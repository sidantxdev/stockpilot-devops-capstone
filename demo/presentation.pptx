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e3a80cb-da63-79e5-a01b-ea004347aa74}">
          <p14:sldIdLst>
            <p14:sldId id="256"/>
          </p14:sldIdLst>
        </p14:section>
        <p14:section name="Application" id="{516e945e-80bb-3a9d-13c7-7103db3a9c3e}">
          <p14:sldIdLst>
            <p14:sldId id="257"/>
            <p14:sldId id="258"/>
          </p14:sldIdLst>
        </p14:section>
        <p14:section name="Architecture" id="{1d68bcd7-b17c-0cce-3276-69fc2254624f}">
          <p14:sldIdLst>
            <p14:sldId id="259"/>
            <p14:sldId id="260"/>
          </p14:sldIdLst>
        </p14:section>
        <p14:section name="Delivery" id="{61cb4cf4-7fed-9699-4563-a283b08f0d5f}">
          <p14:sldIdLst>
            <p14:sldId id="261"/>
            <p14:sldId id="262"/>
          </p14:sldIdLst>
        </p14:section>
        <p14:section name="Infrastructure" id="{55f7318f-c226-5c79-4c4a-8a22a5f3993b}">
          <p14:sldIdLst>
            <p14:sldId id="263"/>
            <p14:sldId id="264"/>
            <p14:sldId id="265"/>
          </p14:sldIdLst>
        </p14:section>
        <p14:section name="Operations" id="{685c1905-4dd2-d5c3-5ce2-2d800aa4f809}">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B2A"/>
                </a:solidFill>
                <a:latin typeface="+mj-lt"/>
              </a:defRPr>
            </a:pPr>
            <a:r>
              <a:rPr sz="1400" b="0" i="0" u="none" strike="noStrike">
                <a:solidFill>
                  <a:srgbClr val="0F1B2A"/>
                </a:solidFill>
                <a:latin typeface="+mj-lt"/>
              </a:rPr>
              <a:t>HPA under load test: 2 → 4 pods in ~40 s</a:t>
            </a:r>
          </a:p>
        </c:rich>
      </c:tx>
      <c:layout/>
      <c:overlay val="0"/>
    </c:title>
    <c:autoTitleDeleted val="0"/>
    <c:plotArea>
      <c:layout/>
      <c:barChart>
        <c:barDir val="col"/>
        <c:grouping val="clustered"/>
        <c:varyColors val="0"/>
        <c:ser>
          <c:idx val="0"/>
          <c:order val="0"/>
          <c:tx>
            <c:strRef>
              <c:f>Sheet1!$B$1</c:f>
              <c:strCache>
                <c:ptCount val="1"/>
                <c:pt idx="0">
                  <c:v>Backend CPU (% of request)</c:v>
                </c:pt>
              </c:strCache>
            </c:strRef>
          </c:tx>
          <c:spPr>
            <a:solidFill>
              <a:srgbClr val="F59E0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0s</c:v>
                  </c:pt>
                  <c:pt idx="1">
                    <c:v>20s</c:v>
                  </c:pt>
                  <c:pt idx="2">
                    <c:v>40s</c:v>
                  </c:pt>
                  <c:pt idx="3">
                    <c:v>60s</c:v>
                  </c:pt>
                  <c:pt idx="4">
                    <c:v>80s</c:v>
                  </c:pt>
                  <c:pt idx="5">
                    <c:v>100s</c:v>
                  </c:pt>
                  <c:pt idx="6">
                    <c:v>120s</c:v>
                  </c:pt>
                  <c:pt idx="7">
                    <c:v>140s</c:v>
                  </c:pt>
                </c:lvl>
              </c:multiLvlStrCache>
            </c:multiLvlStrRef>
          </c:cat>
          <c:val>
            <c:numRef>
              <c:f>Sheet1!$B$2:$B$9</c:f>
              <c:numCache>
                <c:formatCode>General</c:formatCode>
                <c:ptCount val="8"/>
                <c:pt idx="0">
                  <c:v>6</c:v>
                </c:pt>
                <c:pt idx="1">
                  <c:v>34</c:v>
                </c:pt>
                <c:pt idx="2">
                  <c:v>401</c:v>
                </c:pt>
                <c:pt idx="3">
                  <c:v>399</c:v>
                </c:pt>
                <c:pt idx="4">
                  <c:v>344</c:v>
                </c:pt>
                <c:pt idx="5">
                  <c:v>230</c:v>
                </c:pt>
                <c:pt idx="6">
                  <c:v>231</c:v>
                </c:pt>
                <c:pt idx="7">
                  <c:v>227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Backend replicas</c:v>
                </c:pt>
              </c:strCache>
            </c:strRef>
          </c:tx>
          <c:spPr>
            <a:solidFill>
              <a:srgbClr val="0D9488"/>
            </a:solidFill>
            <a:ln w="38100" cap="flat">
              <a:solidFill>
                <a:srgbClr val="0D948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0D9488"/>
              </a:solidFill>
              <a:ln w="9525" cap="flat">
                <a:solidFill>
                  <a:srgbClr val="0D9488"/>
                </a:solidFill>
                <a:prstDash val="solid"/>
                <a:round/>
              </a:ln>
              <a:effectLst/>
            </c:spPr>
          </c:marker>
          <c:cat>
            <c:multiLvlStrRef>
              <c:f>Sheet1!$A$2:$A$9</c:f>
              <c:multiLvlStrCache>
                <c:ptCount val="8"/>
                <c:lvl>
                  <c:pt idx="0">
                    <c:v>0s</c:v>
                  </c:pt>
                  <c:pt idx="1">
                    <c:v>20s</c:v>
                  </c:pt>
                  <c:pt idx="2">
                    <c:v>40s</c:v>
                  </c:pt>
                  <c:pt idx="3">
                    <c:v>60s</c:v>
                  </c:pt>
                  <c:pt idx="4">
                    <c:v>80s</c:v>
                  </c:pt>
                  <c:pt idx="5">
                    <c:v>100s</c:v>
                  </c:pt>
                  <c:pt idx="6">
                    <c:v>120s</c:v>
                  </c:pt>
                  <c:pt idx="7">
                    <c:v>140s</c:v>
                  </c:pt>
                </c:lvl>
              </c:multiLvlStrCache>
            </c:multiLvlStrRef>
          </c:cat>
          <c:val>
            <c:numRef>
              <c:f>Sheet1!$C$2:$C$9</c:f>
              <c:numCache>
                <c:formatCode>General</c:formatCode>
                <c:ptCount val="8"/>
                <c:pt idx="0">
                  <c:v>2</c:v>
                </c:pt>
                <c:pt idx="1">
                  <c:v>2</c:v>
                </c:pt>
                <c:pt idx="2">
                  <c:v>4</c:v>
                </c:pt>
                <c:pt idx="3">
                  <c:v>4</c:v>
                </c:pt>
                <c:pt idx="4">
                  <c:v>4</c:v>
                </c:pt>
                <c:pt idx="5">
                  <c:v>4</c:v>
                </c:pt>
                <c:pt idx="6">
                  <c:v>4</c:v>
                </c:pt>
                <c:pt idx="7">
                  <c:v>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1100" b="0" i="0" u="none" strike="noStrike">
                    <a:solidFill>
                      <a:srgbClr val="64748B"/>
                    </a:solidFill>
                    <a:latin typeface="Arial"/>
                  </a:defRPr>
                </a:pPr>
                <a:r>
                  <a:rPr sz="1100" b="0" i="0" u="none" strike="noStrike">
                    <a:solidFill>
                      <a:srgbClr val="64748B"/>
                    </a:solidFill>
                    <a:latin typeface="Arial"/>
                  </a:rPr>
                  <a:t>CPU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valAx>
        <c:axId val="2094734553"/>
        <c:scaling>
          <c:orientation val="minMax"/>
          <c:max val="6"/>
          <c:min val="0"/>
        </c:scaling>
        <c:delete val="0"/>
        <c:axPos val="r"/>
        <c:title>
          <c:tx>
            <c:rich>
              <a:bodyPr/>
              <a:lstStyle/>
              <a:p>
                <a:pPr>
                  <a:defRPr sz="1100" b="0" i="0" u="none" strike="noStrike">
                    <a:solidFill>
                      <a:srgbClr val="64748B"/>
                    </a:solidFill>
                    <a:latin typeface="Arial"/>
                  </a:defRPr>
                </a:pPr>
                <a:r>
                  <a:rPr sz="1100" b="0" i="0" u="none" strike="noStrike">
                    <a:solidFill>
                      <a:srgbClr val="64748B"/>
                    </a:solidFill>
                    <a:latin typeface="Arial"/>
                  </a:rPr>
                  <a:t>Replicas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5"/>
        <c:crosses val="max"/>
        <c:crossBetween val="between"/>
        <c:majorUnit val="1"/>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1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presenting StockPilot, my DevOps capstone. It's an inventory management app, but the real subject is the delivery pipeline: every commit is tested, built into containers, security-scanned, pushed to GHCR, deployed to AWS EKS through Argo CD, and monitored with Prometheus and Grafana. The icons along the bottom are the tools in the order a change travels through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is warehouse inventory. You can add products, adjust stock with a reason like restock or sale, and every adjustment is recorded so you can see why a number changed. Items below their reorder level are flagged. The screenshot is the real app running in Docker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stack by layer. Application: React, FastAPI and PostgreSQL with Alembic migrations. Engineering: pytest and Docker. Delivery: GitHub Actions with a Trivy security gate pushing to GitHub Container Registry. Platform: Terraform builds the AWS network and EKS, Helm packages the app, Argo CD deploys it, and Prometheus and Grafana watch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delivery path. A push to main triggers GitHub Actions, which tests, builds, scans and pushes images to GHCR tagged with the commit SHA, then commits that tag back into the Helm values. Everything on the right is AWS infrastructure created by Terraform: a VPC and an EKS cluster. Argo CD pulls the chart from Git and keeps the cluster in sync. User traffic enters through an AWS Network Load Balancer into Traefik, which routes slash to the frontend and slash-api to the backend. The backend talks to PostgreSQL on an EBS volume. Prometheus scrapes the backend, Grafana visualizes it, and metrics-server feeds the autoscaler.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FastAPI with full CRUD on products plus a stock-adjust endpoint that refuses to take stock below zero. Health is a cheap liveness check; ready actually queries the database, so Kubernetes only sends traffic to pods that can reach Postgres. Two Alembic migrations create the products and stock_movements tables and seed demo data. The 19 pytest cases override the database dependency with an in-memory SQLite database, so tests never touch production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GitHub Actions workflow. Stage one is the quality gate: lint, 19 pytest cases and the React build. If any test fails, nothing else runs. Stage two builds both images. Stage three is the security gate: Trivy fails the pipeline on any fixable high or critical CVE, so a vulnerable image is never pushed. Stage four pushes to GHCR tagged with the commit SHA, never latest. Stage five is GitOps: the pipeline writes the new tag into the Helm values file and commits it, and Argo CD rolls it out. CI never holds cluster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the OS packages and every Python package in the image. My first pipeline run failed the gate with four high CVEs, including a urllib3 TLS interception bug. They weren't my dependencies: pip vendors those libraries, and pip had been copied into the runtime image. Removing pip from the runtime fixed it, and the rescan was clean. Some Debian base packages still have high CVEs with no fix published. The gate ignores unfixed issues, and the Dockerfile upgrades packages on every build so fixes arrive automatically. Scanning is one layer, so the containers also run non-root with read-only filesystems under the restricted Pod Security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creates all the AWS infrastructure from code using the community VPC and EKS modules. Two availability zones, each with a public subnet for the load balancer and NAT gateway and a private subnet for the worker nodes. The EKS cluster runs Kubernetes 1.34 with a managed node group of two t3.medium instances that can grow to four, plus the EBS CSI add-on so Postgres gets a persistent volume. No credentials are in the repo; Terraform uses my AWS CLI login. It costs about thirty cents an hour, so I destroy it right after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 is one Helm chart: two Deployments with at least two replicas each, a Postgres StatefulSet with a persistent volume, ClusterIP Services, an Ingress that routes slash to the frontend and slash-api to the backend, an HPA, a disruption budget and the monitoring objects. The chart on the right is a real load test I ran. Six in-cluster workers pushed backend CPU far above the 60 percent target, and within about forty seconds the HPA scaled the backend from two to four pods, the maximum for that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deployment model is GitOps. The pipeline's last step commits the new image SHA into the Helm values file. Argo CD watches that file, sees the cluster no longer matches Git, and runs a rolling update. Because sync uses prune and self-heal, a manual kubectl change gets reverted, and rolling back is just a git revert. CI never needs credentials for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Prometheus metrics: request counts and latency histograms per endpoint, plus two business counters for stock movements. The Helm chart ships a ServiceMonitor, so Prometheus finds every backend pod automatically, and a dashboard ConfigMap that Grafana loads by itself. I disabled the control-plane scrape jobs EKS doesn't expose, so the Targets page shows all targets up. Three alert rules cover the backend being down, a high error rate and slow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takeaways. Put quality and security gates before anything is published. Immutable SHA tags plus GitOps make deployments traceable and reversible. Liveness and readiness answer different questions. Least privilege applies at every layer. Kubernetes creates AWS resources Terraform doesn't track, so tear-down order matters. And observability should include business metrics. Next I'll walk through all of this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188720"/>
          </a:xfrm>
          <a:prstGeom prst="rect">
            <a:avLst/>
          </a:prstGeom>
          <a:noFill/>
          <a:ln/>
        </p:spPr>
        <p:txBody>
          <a:bodyPr wrap="square" rtlCol="0"/>
          <a:lstStyle>
            <a:lvl1pPr algn="l" indent="0" marL="0">
              <a:buNone/>
              <a:defRPr lang="en-US" sz="6000" b="1" dirty="0">
                <a:solidFill>
                  <a:schemeClr val="bg1"/>
                </a:solidFill>
                <a:latin typeface="Arial" pitchFamily="34" charset="0"/>
                <a:ea typeface="Arial" pitchFamily="34" charset="-122"/>
                <a:cs typeface="Arial" pitchFamily="34" charset="-120"/>
              </a:defRPr>
            </a:lvl1pPr>
          </a:lstStyle>
          <a:p>
            <a:pPr algn="l" indent="0" marL="0">
              <a:buNone/>
            </a:pPr>
            <a:endParaRPr lang="en-US" sz="6000" dirty="0"/>
          </a:p>
        </p:txBody>
      </p:sp>
      <p:sp>
        <p:nvSpPr>
          <p:cNvPr id="3" name="Text 0"/>
          <p:cNvSpPr/>
          <p:nvPr>
            <p:ph idx="101" type="body" hasCustomPrompt="1"/>
          </p:nvPr>
        </p:nvSpPr>
        <p:spPr>
          <a:xfrm>
            <a:off x="731520" y="3063240"/>
            <a:ext cx="10058400" cy="100584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StockPilot · DevSecOps Capstone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slideLayout" Target="../slideLayouts/slideLayout2.xml"/><Relationship Id="rId1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188720"/>
          </a:xfrm>
          <a:prstGeom prst="rect">
            <a:avLst/>
          </a:prstGeom>
          <a:noFill/>
          <a:ln/>
        </p:spPr>
        <p:txBody>
          <a:bodyPr wrap="square" lIns="0" tIns="0" rIns="0" bIns="0" rtlCol="0" anchor="b"/>
          <a:lstStyle/>
          <a:p>
            <a:pPr algn="l" indent="0" marL="0">
              <a:buNone/>
            </a:pPr>
            <a:r>
              <a:rPr lang="en-US" sz="6000" b="1" dirty="0">
                <a:solidFill>
                  <a:schemeClr val="bg1"/>
                </a:solidFill>
                <a:latin typeface="Arial" pitchFamily="34" charset="0"/>
                <a:ea typeface="Arial" pitchFamily="34" charset="-122"/>
                <a:cs typeface="Arial" pitchFamily="34" charset="-120"/>
              </a:rPr>
              <a:t>StockPilot</a:t>
            </a:r>
            <a:endParaRPr lang="en-US" sz="6000" dirty="0"/>
          </a:p>
        </p:txBody>
      </p:sp>
      <p:sp>
        <p:nvSpPr>
          <p:cNvPr id="3" name="Text 0"/>
          <p:cNvSpPr/>
          <p:nvPr>
            <p:ph idx="101" type="body" hasCustomPrompt="1"/>
          </p:nvPr>
        </p:nvSpPr>
        <p:spPr>
          <a:xfrm>
            <a:off x="731520" y="3063240"/>
            <a:ext cx="10058400" cy="1005840"/>
          </a:xfrm>
          <a:prstGeom prst="rect">
            <a:avLst/>
          </a:prstGeom>
          <a:noFill/>
          <a:ln/>
        </p:spPr>
        <p:txBody>
          <a:bodyPr wrap="square" lIns="0" tIns="0" rIns="0" bIns="0" rtlCol="0" anchor="t"/>
          <a:lstStyle/>
          <a:p>
            <a:pPr indent="0" marL="0">
              <a:buNone/>
            </a:pPr>
            <a:r>
              <a:rPr lang="en-US" sz="2200" dirty="0">
                <a:solidFill>
                  <a:schemeClr val="bg2"/>
                </a:solidFill>
              </a:rPr>
              <a:t>Inventory management shipped through a full DevSecOps pipeline, from git push to a monitored, autoscaling EKS cluster</a:t>
            </a:r>
            <a:endParaRPr lang="en-US" sz="2200" dirty="0"/>
          </a:p>
        </p:txBody>
      </p:sp>
      <p:sp>
        <p:nvSpPr>
          <p:cNvPr id="4" name="Text 2"/>
          <p:cNvSpPr txBox="1"/>
          <p:nvPr/>
        </p:nvSpPr>
        <p:spPr>
          <a:xfrm>
            <a:off x="731520" y="4343400"/>
            <a:ext cx="10058400" cy="365760"/>
          </a:xfrm>
          <a:prstGeom prst="rect">
            <a:avLst/>
          </a:prstGeom>
          <a:noFill/>
          <a:ln/>
        </p:spPr>
        <p:txBody>
          <a:bodyPr wrap="square" lIns="0" tIns="0" rIns="0" bIns="0" rtlCol="0" anchor="t"/>
          <a:lstStyle/>
          <a:p>
            <a:pPr indent="0" marL="0">
              <a:buNone/>
            </a:pPr>
            <a:r>
              <a:rPr lang="en-US" sz="1400" dirty="0">
                <a:solidFill>
                  <a:schemeClr val="accent4"/>
                </a:solidFill>
              </a:rPr>
              <a:t>DevOps Final Capstone · Session 21  ·  SidantxDev  ·  October 2026</a:t>
            </a:r>
            <a:endParaRPr lang="en-US" sz="1400" dirty="0"/>
          </a:p>
        </p:txBody>
      </p:sp>
      <p:sp>
        <p:nvSpPr>
          <p:cNvPr id="5" name="Shape 3"/>
          <p:cNvSpPr/>
          <p:nvPr/>
        </p:nvSpPr>
        <p:spPr>
          <a:xfrm>
            <a:off x="731520" y="5257800"/>
            <a:ext cx="512064" cy="512064"/>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44174" y="5370454"/>
            <a:ext cx="286756" cy="286756"/>
          </a:xfrm>
          <a:prstGeom prst="rect">
            <a:avLst/>
          </a:prstGeom>
        </p:spPr>
      </p:pic>
      <p:sp>
        <p:nvSpPr>
          <p:cNvPr id="7" name="Shape 4"/>
          <p:cNvSpPr/>
          <p:nvPr/>
        </p:nvSpPr>
        <p:spPr>
          <a:xfrm>
            <a:off x="1389888" y="5257800"/>
            <a:ext cx="512064" cy="512064"/>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1502542" y="5370454"/>
            <a:ext cx="286756" cy="286756"/>
          </a:xfrm>
          <a:prstGeom prst="rect">
            <a:avLst/>
          </a:prstGeom>
        </p:spPr>
      </p:pic>
      <p:sp>
        <p:nvSpPr>
          <p:cNvPr id="9" name="Shape 5"/>
          <p:cNvSpPr/>
          <p:nvPr/>
        </p:nvSpPr>
        <p:spPr>
          <a:xfrm>
            <a:off x="2048256" y="5257800"/>
            <a:ext cx="512064" cy="512064"/>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2160910" y="5370454"/>
            <a:ext cx="286756" cy="286756"/>
          </a:xfrm>
          <a:prstGeom prst="rect">
            <a:avLst/>
          </a:prstGeom>
        </p:spPr>
      </p:pic>
      <p:sp>
        <p:nvSpPr>
          <p:cNvPr id="11" name="Shape 6"/>
          <p:cNvSpPr/>
          <p:nvPr/>
        </p:nvSpPr>
        <p:spPr>
          <a:xfrm>
            <a:off x="2706624" y="5257800"/>
            <a:ext cx="512064" cy="512064"/>
          </a:xfrm>
          <a:prstGeom prst="ellipse">
            <a:avLst/>
          </a:prstGeom>
          <a:solidFill>
            <a:schemeClr val="accent1"/>
          </a:solidFill>
          <a:ln/>
        </p:spPr>
      </p:sp>
      <p:pic>
        <p:nvPicPr>
          <p:cNvPr id="12" name="Image 3" descr="preencoded.png">    </p:cNvPr>
          <p:cNvPicPr>
            <a:picLocks noChangeAspect="1"/>
          </p:cNvPicPr>
          <p:nvPr/>
        </p:nvPicPr>
        <p:blipFill>
          <a:blip r:embed="rId4"/>
          <a:stretch>
            <a:fillRect/>
          </a:stretch>
        </p:blipFill>
        <p:spPr>
          <a:xfrm>
            <a:off x="2819278" y="5370454"/>
            <a:ext cx="286756" cy="286756"/>
          </a:xfrm>
          <a:prstGeom prst="rect">
            <a:avLst/>
          </a:prstGeom>
        </p:spPr>
      </p:pic>
      <p:sp>
        <p:nvSpPr>
          <p:cNvPr id="13" name="Shape 7"/>
          <p:cNvSpPr/>
          <p:nvPr/>
        </p:nvSpPr>
        <p:spPr>
          <a:xfrm>
            <a:off x="3364992" y="5257800"/>
            <a:ext cx="512064" cy="512064"/>
          </a:xfrm>
          <a:prstGeom prst="ellipse">
            <a:avLst/>
          </a:prstGeom>
          <a:solidFill>
            <a:schemeClr val="accent1"/>
          </a:solidFill>
          <a:ln/>
        </p:spPr>
      </p:sp>
      <p:pic>
        <p:nvPicPr>
          <p:cNvPr id="14" name="Image 4" descr="preencoded.png">    </p:cNvPr>
          <p:cNvPicPr>
            <a:picLocks noChangeAspect="1"/>
          </p:cNvPicPr>
          <p:nvPr/>
        </p:nvPicPr>
        <p:blipFill>
          <a:blip r:embed="rId5"/>
          <a:stretch>
            <a:fillRect/>
          </a:stretch>
        </p:blipFill>
        <p:spPr>
          <a:xfrm>
            <a:off x="3477646" y="5370454"/>
            <a:ext cx="286756" cy="286756"/>
          </a:xfrm>
          <a:prstGeom prst="rect">
            <a:avLst/>
          </a:prstGeom>
        </p:spPr>
      </p:pic>
      <p:sp>
        <p:nvSpPr>
          <p:cNvPr id="15" name="Shape 8"/>
          <p:cNvSpPr/>
          <p:nvPr/>
        </p:nvSpPr>
        <p:spPr>
          <a:xfrm>
            <a:off x="4023360" y="5257800"/>
            <a:ext cx="512064" cy="512064"/>
          </a:xfrm>
          <a:prstGeom prst="ellipse">
            <a:avLst/>
          </a:prstGeom>
          <a:solidFill>
            <a:schemeClr val="accent2"/>
          </a:solidFill>
          <a:ln/>
        </p:spPr>
      </p:sp>
      <p:pic>
        <p:nvPicPr>
          <p:cNvPr id="16" name="Image 5" descr="preencoded.png">    </p:cNvPr>
          <p:cNvPicPr>
            <a:picLocks noChangeAspect="1"/>
          </p:cNvPicPr>
          <p:nvPr/>
        </p:nvPicPr>
        <p:blipFill>
          <a:blip r:embed="rId6"/>
          <a:stretch>
            <a:fillRect/>
          </a:stretch>
        </p:blipFill>
        <p:spPr>
          <a:xfrm>
            <a:off x="4136014" y="5370454"/>
            <a:ext cx="286756" cy="286756"/>
          </a:xfrm>
          <a:prstGeom prst="rect">
            <a:avLst/>
          </a:prstGeom>
        </p:spPr>
      </p:pic>
      <p:sp>
        <p:nvSpPr>
          <p:cNvPr id="17" name="Shape 9"/>
          <p:cNvSpPr/>
          <p:nvPr/>
        </p:nvSpPr>
        <p:spPr>
          <a:xfrm>
            <a:off x="4681728" y="5257800"/>
            <a:ext cx="512064" cy="512064"/>
          </a:xfrm>
          <a:prstGeom prst="ellipse">
            <a:avLst/>
          </a:prstGeom>
          <a:solidFill>
            <a:schemeClr val="accent1"/>
          </a:solidFill>
          <a:ln/>
        </p:spPr>
      </p:sp>
      <p:pic>
        <p:nvPicPr>
          <p:cNvPr id="18" name="Image 6" descr="preencoded.png">    </p:cNvPr>
          <p:cNvPicPr>
            <a:picLocks noChangeAspect="1"/>
          </p:cNvPicPr>
          <p:nvPr/>
        </p:nvPicPr>
        <p:blipFill>
          <a:blip r:embed="rId7"/>
          <a:stretch>
            <a:fillRect/>
          </a:stretch>
        </p:blipFill>
        <p:spPr>
          <a:xfrm>
            <a:off x="4794382" y="5370454"/>
            <a:ext cx="286756" cy="286756"/>
          </a:xfrm>
          <a:prstGeom prst="rect">
            <a:avLst/>
          </a:prstGeom>
        </p:spPr>
      </p:pic>
      <p:sp>
        <p:nvSpPr>
          <p:cNvPr id="19" name="Shape 10"/>
          <p:cNvSpPr/>
          <p:nvPr/>
        </p:nvSpPr>
        <p:spPr>
          <a:xfrm>
            <a:off x="5340096" y="5257800"/>
            <a:ext cx="512064" cy="512064"/>
          </a:xfrm>
          <a:prstGeom prst="ellipse">
            <a:avLst/>
          </a:prstGeom>
          <a:solidFill>
            <a:schemeClr val="accent1"/>
          </a:solidFill>
          <a:ln/>
        </p:spPr>
      </p:sp>
      <p:pic>
        <p:nvPicPr>
          <p:cNvPr id="20" name="Image 7" descr="preencoded.png">    </p:cNvPr>
          <p:cNvPicPr>
            <a:picLocks noChangeAspect="1"/>
          </p:cNvPicPr>
          <p:nvPr/>
        </p:nvPicPr>
        <p:blipFill>
          <a:blip r:embed="rId8"/>
          <a:stretch>
            <a:fillRect/>
          </a:stretch>
        </p:blipFill>
        <p:spPr>
          <a:xfrm>
            <a:off x="5452750" y="5370454"/>
            <a:ext cx="286756" cy="286756"/>
          </a:xfrm>
          <a:prstGeom prst="rect">
            <a:avLst/>
          </a:prstGeom>
        </p:spPr>
      </p:pic>
      <p:sp>
        <p:nvSpPr>
          <p:cNvPr id="21" name="Shape 11"/>
          <p:cNvSpPr/>
          <p:nvPr/>
        </p:nvSpPr>
        <p:spPr>
          <a:xfrm>
            <a:off x="5998464" y="5257800"/>
            <a:ext cx="512064" cy="512064"/>
          </a:xfrm>
          <a:prstGeom prst="ellipse">
            <a:avLst/>
          </a:prstGeom>
          <a:solidFill>
            <a:schemeClr val="accent1"/>
          </a:solidFill>
          <a:ln/>
        </p:spPr>
      </p:sp>
      <p:pic>
        <p:nvPicPr>
          <p:cNvPr id="22" name="Image 8" descr="preencoded.png">    </p:cNvPr>
          <p:cNvPicPr>
            <a:picLocks noChangeAspect="1"/>
          </p:cNvPicPr>
          <p:nvPr/>
        </p:nvPicPr>
        <p:blipFill>
          <a:blip r:embed="rId9"/>
          <a:stretch>
            <a:fillRect/>
          </a:stretch>
        </p:blipFill>
        <p:spPr>
          <a:xfrm>
            <a:off x="6111118" y="5370454"/>
            <a:ext cx="286756" cy="286756"/>
          </a:xfrm>
          <a:prstGeom prst="rect">
            <a:avLst/>
          </a:prstGeom>
        </p:spPr>
      </p:pic>
      <p:sp>
        <p:nvSpPr>
          <p:cNvPr id="23" name="Shape 12"/>
          <p:cNvSpPr/>
          <p:nvPr/>
        </p:nvSpPr>
        <p:spPr>
          <a:xfrm>
            <a:off x="6656832" y="5257800"/>
            <a:ext cx="512064" cy="512064"/>
          </a:xfrm>
          <a:prstGeom prst="ellipse">
            <a:avLst/>
          </a:prstGeom>
          <a:solidFill>
            <a:schemeClr val="accent1"/>
          </a:solidFill>
          <a:ln/>
        </p:spPr>
      </p:sp>
      <p:pic>
        <p:nvPicPr>
          <p:cNvPr id="24" name="Image 9" descr="preencoded.png">    </p:cNvPr>
          <p:cNvPicPr>
            <a:picLocks noChangeAspect="1"/>
          </p:cNvPicPr>
          <p:nvPr/>
        </p:nvPicPr>
        <p:blipFill>
          <a:blip r:embed="rId10"/>
          <a:stretch>
            <a:fillRect/>
          </a:stretch>
        </p:blipFill>
        <p:spPr>
          <a:xfrm>
            <a:off x="6769486" y="5370454"/>
            <a:ext cx="286756" cy="286756"/>
          </a:xfrm>
          <a:prstGeom prst="rect">
            <a:avLst/>
          </a:prstGeom>
        </p:spPr>
      </p:pic>
      <p:sp>
        <p:nvSpPr>
          <p:cNvPr id="25" name="Shape 13"/>
          <p:cNvSpPr/>
          <p:nvPr/>
        </p:nvSpPr>
        <p:spPr>
          <a:xfrm>
            <a:off x="7315200" y="5257800"/>
            <a:ext cx="512064" cy="512064"/>
          </a:xfrm>
          <a:prstGeom prst="ellipse">
            <a:avLst/>
          </a:prstGeom>
          <a:solidFill>
            <a:schemeClr val="accent1"/>
          </a:solidFill>
          <a:ln/>
        </p:spPr>
      </p:sp>
      <p:pic>
        <p:nvPicPr>
          <p:cNvPr id="26" name="Image 10" descr="preencoded.png">    </p:cNvPr>
          <p:cNvPicPr>
            <a:picLocks noChangeAspect="1"/>
          </p:cNvPicPr>
          <p:nvPr/>
        </p:nvPicPr>
        <p:blipFill>
          <a:blip r:embed="rId11"/>
          <a:stretch>
            <a:fillRect/>
          </a:stretch>
        </p:blipFill>
        <p:spPr>
          <a:xfrm>
            <a:off x="7427854" y="5370454"/>
            <a:ext cx="286756" cy="286756"/>
          </a:xfrm>
          <a:prstGeom prst="rect">
            <a:avLst/>
          </a:prstGeom>
        </p:spPr>
      </p:pic>
      <p:sp>
        <p:nvSpPr>
          <p:cNvPr id="27" name="Shape 14"/>
          <p:cNvSpPr/>
          <p:nvPr/>
        </p:nvSpPr>
        <p:spPr>
          <a:xfrm>
            <a:off x="7973568" y="5257800"/>
            <a:ext cx="512064" cy="512064"/>
          </a:xfrm>
          <a:prstGeom prst="ellipse">
            <a:avLst/>
          </a:prstGeom>
          <a:solidFill>
            <a:schemeClr val="accent1"/>
          </a:solidFill>
          <a:ln/>
        </p:spPr>
      </p:sp>
      <p:pic>
        <p:nvPicPr>
          <p:cNvPr id="28" name="Image 11" descr="preencoded.png">    </p:cNvPr>
          <p:cNvPicPr>
            <a:picLocks noChangeAspect="1"/>
          </p:cNvPicPr>
          <p:nvPr/>
        </p:nvPicPr>
        <p:blipFill>
          <a:blip r:embed="rId12"/>
          <a:stretch>
            <a:fillRect/>
          </a:stretch>
        </p:blipFill>
        <p:spPr>
          <a:xfrm>
            <a:off x="8086222" y="5370454"/>
            <a:ext cx="286756" cy="286756"/>
          </a:xfrm>
          <a:prstGeom prst="rect">
            <a:avLst/>
          </a:prstGeom>
        </p:spPr>
      </p:pic>
      <p:sp>
        <p:nvSpPr>
          <p:cNvPr id="29" name="Shape 15"/>
          <p:cNvSpPr/>
          <p:nvPr/>
        </p:nvSpPr>
        <p:spPr>
          <a:xfrm>
            <a:off x="8631936" y="5257800"/>
            <a:ext cx="512064" cy="512064"/>
          </a:xfrm>
          <a:prstGeom prst="ellipse">
            <a:avLst/>
          </a:prstGeom>
          <a:solidFill>
            <a:schemeClr val="accent1"/>
          </a:solidFill>
          <a:ln/>
        </p:spPr>
      </p:sp>
      <p:pic>
        <p:nvPicPr>
          <p:cNvPr id="30" name="Image 12" descr="preencoded.png">    </p:cNvPr>
          <p:cNvPicPr>
            <a:picLocks noChangeAspect="1"/>
          </p:cNvPicPr>
          <p:nvPr/>
        </p:nvPicPr>
        <p:blipFill>
          <a:blip r:embed="rId13"/>
          <a:stretch>
            <a:fillRect/>
          </a:stretch>
        </p:blipFill>
        <p:spPr>
          <a:xfrm>
            <a:off x="8744590" y="5370454"/>
            <a:ext cx="286756" cy="2867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What I built: a warehouse inventory dashboard</a:t>
            </a:r>
            <a:endParaRPr lang="en-US" sz="3200" dirty="0"/>
          </a:p>
        </p:txBody>
      </p:sp>
      <p:sp>
        <p:nvSpPr>
          <p:cNvPr id="3" name="Shape 1"/>
          <p:cNvSpPr/>
          <p:nvPr/>
        </p:nvSpPr>
        <p:spPr>
          <a:xfrm>
            <a:off x="548640" y="1417320"/>
            <a:ext cx="548640" cy="54864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69341" y="1538021"/>
            <a:ext cx="307238" cy="307238"/>
          </a:xfrm>
          <a:prstGeom prst="rect">
            <a:avLst/>
          </a:prstGeom>
        </p:spPr>
      </p:pic>
      <p:sp>
        <p:nvSpPr>
          <p:cNvPr id="5" name="Text 2"/>
          <p:cNvSpPr txBox="1"/>
          <p:nvPr/>
        </p:nvSpPr>
        <p:spPr>
          <a:xfrm>
            <a:off x="1280160" y="1399032"/>
            <a:ext cx="3749040" cy="365760"/>
          </a:xfrm>
          <a:prstGeom prst="rect">
            <a:avLst/>
          </a:prstGeom>
          <a:noFill/>
          <a:ln/>
        </p:spPr>
        <p:txBody>
          <a:bodyPr wrap="square" lIns="0" tIns="0" rIns="0" bIns="0" rtlCol="0" anchor="t"/>
          <a:lstStyle/>
          <a:p>
            <a:pPr indent="0" marL="0">
              <a:buNone/>
            </a:pPr>
            <a:r>
              <a:rPr lang="en-US" sz="1800" b="1" dirty="0">
                <a:solidFill>
                  <a:schemeClr val="tx1"/>
                </a:solidFill>
              </a:rPr>
              <a:t>The problem</a:t>
            </a:r>
            <a:endParaRPr lang="en-US" sz="1800" dirty="0"/>
          </a:p>
        </p:txBody>
      </p:sp>
      <p:sp>
        <p:nvSpPr>
          <p:cNvPr id="6" name="Text 3"/>
          <p:cNvSpPr txBox="1"/>
          <p:nvPr/>
        </p:nvSpPr>
        <p:spPr>
          <a:xfrm>
            <a:off x="1280160" y="1801368"/>
            <a:ext cx="3749040" cy="914400"/>
          </a:xfrm>
          <a:prstGeom prst="rect">
            <a:avLst/>
          </a:prstGeom>
          <a:noFill/>
          <a:ln/>
        </p:spPr>
        <p:txBody>
          <a:bodyPr wrap="square" lIns="0" tIns="0" rIns="0" bIns="0" rtlCol="0" anchor="t"/>
          <a:lstStyle/>
          <a:p>
            <a:pPr indent="0" marL="0">
              <a:buNone/>
            </a:pPr>
            <a:r>
              <a:rPr lang="en-US" sz="1400" dirty="0">
                <a:solidFill>
                  <a:schemeClr val="tx2"/>
                </a:solidFill>
              </a:rPr>
              <a:t>Small warehouses track stock in spreadsheets, so reorders get missed and nobody knows why a count changed.</a:t>
            </a:r>
            <a:endParaRPr lang="en-US" sz="1400" dirty="0"/>
          </a:p>
        </p:txBody>
      </p:sp>
      <p:sp>
        <p:nvSpPr>
          <p:cNvPr id="7" name="Shape 4"/>
          <p:cNvSpPr/>
          <p:nvPr/>
        </p:nvSpPr>
        <p:spPr>
          <a:xfrm>
            <a:off x="548640" y="2926080"/>
            <a:ext cx="548640" cy="54864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669341" y="3046781"/>
            <a:ext cx="307238" cy="307238"/>
          </a:xfrm>
          <a:prstGeom prst="rect">
            <a:avLst/>
          </a:prstGeom>
        </p:spPr>
      </p:pic>
      <p:sp>
        <p:nvSpPr>
          <p:cNvPr id="9" name="Text 5"/>
          <p:cNvSpPr txBox="1"/>
          <p:nvPr/>
        </p:nvSpPr>
        <p:spPr>
          <a:xfrm>
            <a:off x="1280160" y="2907792"/>
            <a:ext cx="3749040" cy="365760"/>
          </a:xfrm>
          <a:prstGeom prst="rect">
            <a:avLst/>
          </a:prstGeom>
          <a:noFill/>
          <a:ln/>
        </p:spPr>
        <p:txBody>
          <a:bodyPr wrap="square" lIns="0" tIns="0" rIns="0" bIns="0" rtlCol="0" anchor="t"/>
          <a:lstStyle/>
          <a:p>
            <a:pPr indent="0" marL="0">
              <a:buNone/>
            </a:pPr>
            <a:r>
              <a:rPr lang="en-US" sz="1800" b="1" dirty="0">
                <a:solidFill>
                  <a:schemeClr val="tx1"/>
                </a:solidFill>
              </a:rPr>
              <a:t>The app</a:t>
            </a:r>
            <a:endParaRPr lang="en-US" sz="1800" dirty="0"/>
          </a:p>
        </p:txBody>
      </p:sp>
      <p:sp>
        <p:nvSpPr>
          <p:cNvPr id="10" name="Text 6"/>
          <p:cNvSpPr txBox="1"/>
          <p:nvPr/>
        </p:nvSpPr>
        <p:spPr>
          <a:xfrm>
            <a:off x="1280160" y="3310128"/>
            <a:ext cx="3749040" cy="914400"/>
          </a:xfrm>
          <a:prstGeom prst="rect">
            <a:avLst/>
          </a:prstGeom>
          <a:noFill/>
          <a:ln/>
        </p:spPr>
        <p:txBody>
          <a:bodyPr wrap="square" lIns="0" tIns="0" rIns="0" bIns="0" rtlCol="0" anchor="t"/>
          <a:lstStyle/>
          <a:p>
            <a:pPr indent="0" marL="0">
              <a:buNone/>
            </a:pPr>
            <a:r>
              <a:rPr lang="en-US" sz="1400" dirty="0">
                <a:solidFill>
                  <a:schemeClr val="tx2"/>
                </a:solidFill>
              </a:rPr>
              <a:t>Products with SKUs, live stock levels, low/out-of-stock alerts and an audit trail of every stock movement.</a:t>
            </a:r>
            <a:endParaRPr lang="en-US" sz="1400" dirty="0"/>
          </a:p>
        </p:txBody>
      </p:sp>
      <p:sp>
        <p:nvSpPr>
          <p:cNvPr id="11" name="Shape 7"/>
          <p:cNvSpPr/>
          <p:nvPr/>
        </p:nvSpPr>
        <p:spPr>
          <a:xfrm>
            <a:off x="548640" y="4434840"/>
            <a:ext cx="548640" cy="548640"/>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669341" y="4555541"/>
            <a:ext cx="307238" cy="307238"/>
          </a:xfrm>
          <a:prstGeom prst="rect">
            <a:avLst/>
          </a:prstGeom>
        </p:spPr>
      </p:pic>
      <p:sp>
        <p:nvSpPr>
          <p:cNvPr id="13" name="Text 8"/>
          <p:cNvSpPr txBox="1"/>
          <p:nvPr/>
        </p:nvSpPr>
        <p:spPr>
          <a:xfrm>
            <a:off x="1280160" y="4416552"/>
            <a:ext cx="3749040" cy="365760"/>
          </a:xfrm>
          <a:prstGeom prst="rect">
            <a:avLst/>
          </a:prstGeom>
          <a:noFill/>
          <a:ln/>
        </p:spPr>
        <p:txBody>
          <a:bodyPr wrap="square" lIns="0" tIns="0" rIns="0" bIns="0" rtlCol="0" anchor="t"/>
          <a:lstStyle/>
          <a:p>
            <a:pPr indent="0" marL="0">
              <a:buNone/>
            </a:pPr>
            <a:r>
              <a:rPr lang="en-US" sz="1800" b="1" dirty="0">
                <a:solidFill>
                  <a:schemeClr val="tx1"/>
                </a:solidFill>
              </a:rPr>
              <a:t>The DevOps goal</a:t>
            </a:r>
            <a:endParaRPr lang="en-US" sz="1800" dirty="0"/>
          </a:p>
        </p:txBody>
      </p:sp>
      <p:sp>
        <p:nvSpPr>
          <p:cNvPr id="14" name="Text 9"/>
          <p:cNvSpPr txBox="1"/>
          <p:nvPr/>
        </p:nvSpPr>
        <p:spPr>
          <a:xfrm>
            <a:off x="1280160" y="4818888"/>
            <a:ext cx="3749040" cy="914400"/>
          </a:xfrm>
          <a:prstGeom prst="rect">
            <a:avLst/>
          </a:prstGeom>
          <a:noFill/>
          <a:ln/>
        </p:spPr>
        <p:txBody>
          <a:bodyPr wrap="square" lIns="0" tIns="0" rIns="0" bIns="0" rtlCol="0" anchor="t"/>
          <a:lstStyle/>
          <a:p>
            <a:pPr indent="0" marL="0">
              <a:buNone/>
            </a:pPr>
            <a:r>
              <a:rPr lang="en-US" sz="1400" dirty="0">
                <a:solidFill>
                  <a:schemeClr val="tx2"/>
                </a:solidFill>
              </a:rPr>
              <a:t>Every commit is tested, scanned, deployed by GitOps to EKS and observable in Grafana, with no manual steps.</a:t>
            </a:r>
            <a:endParaRPr lang="en-US" sz="1400" dirty="0"/>
          </a:p>
        </p:txBody>
      </p:sp>
      <p:pic>
        <p:nvPicPr>
          <p:cNvPr id="15" name="Image 3" descr="C:\Users\singh\AppData\Local\Temp\claude\c--Users-singh-OneDrive-Desktop-New-folder\911e75e7-0828-441b-8cce-d29c57a16fb1\scratchpad\desktop.png">    </p:cNvPr>
          <p:cNvPicPr>
            <a:picLocks noChangeAspect="1"/>
          </p:cNvPicPr>
          <p:nvPr/>
        </p:nvPicPr>
        <p:blipFill>
          <a:blip r:embed="rId4"/>
          <a:stretch>
            <a:fillRect/>
          </a:stretch>
        </p:blipFill>
        <p:spPr>
          <a:xfrm>
            <a:off x="5440680" y="1371600"/>
            <a:ext cx="6217920" cy="4315968"/>
          </a:xfrm>
          <a:prstGeom prst="rect">
            <a:avLst/>
          </a:prstGeom>
          <a:effectLst>
            <a:outerShdw sx="100000" sy="100000" kx="0" ky="0" algn="bl" rotWithShape="0" blurRad="127000" dist="38100" dir="5400000">
              <a:srgbClr val="0F1B2A">
                <a:alpha val="25000"/>
              </a:srgbClr>
            </a:outerShdw>
          </a:effectLst>
        </p:spPr>
      </p:pic>
      <p:sp>
        <p:nvSpPr>
          <p:cNvPr id="16" name="Text 10"/>
          <p:cNvSpPr txBox="1"/>
          <p:nvPr/>
        </p:nvSpPr>
        <p:spPr>
          <a:xfrm>
            <a:off x="5440680" y="5806440"/>
            <a:ext cx="6217920" cy="274320"/>
          </a:xfrm>
          <a:prstGeom prst="rect">
            <a:avLst/>
          </a:prstGeom>
          <a:noFill/>
          <a:ln/>
        </p:spPr>
        <p:txBody>
          <a:bodyPr wrap="square" lIns="0" tIns="0" rIns="0" bIns="0" rtlCol="0" anchor="t"/>
          <a:lstStyle/>
          <a:p>
            <a:pPr indent="0" marL="0">
              <a:buNone/>
            </a:pPr>
            <a:r>
              <a:rPr lang="en-US" sz="1100" i="1" dirty="0">
                <a:solidFill>
                  <a:schemeClr val="accent4"/>
                </a:solidFill>
              </a:rPr>
              <a:t>Live UI: KPI cards, searchable product table, status badges, stock-movement feed</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Tech stack, layer by layer</a:t>
            </a:r>
            <a:endParaRPr lang="en-US" sz="3200" dirty="0"/>
          </a:p>
        </p:txBody>
      </p:sp>
      <p:sp>
        <p:nvSpPr>
          <p:cNvPr id="3" name="stack-Frontend"/>
          <p:cNvSpPr/>
          <p:nvPr/>
        </p:nvSpPr>
        <p:spPr>
          <a:xfrm>
            <a:off x="548640" y="1371600"/>
            <a:ext cx="3520440" cy="1371600"/>
          </a:xfrm>
          <a:prstGeom prst="roundRect">
            <a:avLst>
              <a:gd name="adj" fmla="val 5333"/>
            </a:avLst>
          </a:prstGeom>
          <a:solidFill>
            <a:schemeClr val="bg2"/>
          </a:solidFill>
          <a:ln/>
        </p:spPr>
      </p:sp>
      <p:sp>
        <p:nvSpPr>
          <p:cNvPr id="4" name="Shape 2"/>
          <p:cNvSpPr/>
          <p:nvPr/>
        </p:nvSpPr>
        <p:spPr>
          <a:xfrm>
            <a:off x="777240" y="1755648"/>
            <a:ext cx="603504" cy="603504"/>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0011" y="1888419"/>
            <a:ext cx="337962" cy="337962"/>
          </a:xfrm>
          <a:prstGeom prst="rect">
            <a:avLst/>
          </a:prstGeom>
        </p:spPr>
      </p:pic>
      <p:sp>
        <p:nvSpPr>
          <p:cNvPr id="6" name="Text 3"/>
          <p:cNvSpPr txBox="1"/>
          <p:nvPr/>
        </p:nvSpPr>
        <p:spPr>
          <a:xfrm>
            <a:off x="1572768" y="1627632"/>
            <a:ext cx="2377440" cy="320040"/>
          </a:xfrm>
          <a:prstGeom prst="rect">
            <a:avLst/>
          </a:prstGeom>
          <a:noFill/>
          <a:ln/>
        </p:spPr>
        <p:txBody>
          <a:bodyPr wrap="square" lIns="0" tIns="0" rIns="0" bIns="0" rtlCol="0" anchor="t"/>
          <a:lstStyle/>
          <a:p>
            <a:pPr indent="0" marL="0">
              <a:buNone/>
            </a:pPr>
            <a:r>
              <a:rPr lang="en-US" sz="1600" b="1" dirty="0">
                <a:solidFill>
                  <a:schemeClr val="tx1"/>
                </a:solidFill>
              </a:rPr>
              <a:t>Frontend</a:t>
            </a:r>
            <a:endParaRPr lang="en-US" sz="1600" dirty="0"/>
          </a:p>
        </p:txBody>
      </p:sp>
      <p:sp>
        <p:nvSpPr>
          <p:cNvPr id="7" name="Text 4"/>
          <p:cNvSpPr txBox="1"/>
          <p:nvPr/>
        </p:nvSpPr>
        <p:spPr>
          <a:xfrm>
            <a:off x="1572768" y="1975104"/>
            <a:ext cx="2377440" cy="640080"/>
          </a:xfrm>
          <a:prstGeom prst="rect">
            <a:avLst/>
          </a:prstGeom>
          <a:noFill/>
          <a:ln/>
        </p:spPr>
        <p:txBody>
          <a:bodyPr wrap="square" lIns="0" tIns="0" rIns="0" bIns="0" rtlCol="0" anchor="t"/>
          <a:lstStyle/>
          <a:p>
            <a:pPr indent="0" marL="0">
              <a:buNone/>
            </a:pPr>
            <a:r>
              <a:rPr lang="en-US" sz="1300" dirty="0">
                <a:solidFill>
                  <a:schemeClr val="tx2"/>
                </a:solidFill>
              </a:rPr>
              <a:t>React 19 + Vite 8, served by unprivileged Nginx</a:t>
            </a:r>
            <a:endParaRPr lang="en-US" sz="1300" dirty="0"/>
          </a:p>
        </p:txBody>
      </p:sp>
      <p:sp>
        <p:nvSpPr>
          <p:cNvPr id="8" name="stack-Backend"/>
          <p:cNvSpPr/>
          <p:nvPr/>
        </p:nvSpPr>
        <p:spPr>
          <a:xfrm>
            <a:off x="4297680" y="1371600"/>
            <a:ext cx="3520440" cy="1371600"/>
          </a:xfrm>
          <a:prstGeom prst="roundRect">
            <a:avLst>
              <a:gd name="adj" fmla="val 5333"/>
            </a:avLst>
          </a:prstGeom>
          <a:solidFill>
            <a:schemeClr val="bg2"/>
          </a:solidFill>
          <a:ln/>
        </p:spPr>
      </p:sp>
      <p:sp>
        <p:nvSpPr>
          <p:cNvPr id="9" name="Shape 6"/>
          <p:cNvSpPr/>
          <p:nvPr/>
        </p:nvSpPr>
        <p:spPr>
          <a:xfrm>
            <a:off x="4526280" y="1755648"/>
            <a:ext cx="603504" cy="603504"/>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659051" y="1888419"/>
            <a:ext cx="337962" cy="337962"/>
          </a:xfrm>
          <a:prstGeom prst="rect">
            <a:avLst/>
          </a:prstGeom>
        </p:spPr>
      </p:pic>
      <p:sp>
        <p:nvSpPr>
          <p:cNvPr id="11" name="Text 7"/>
          <p:cNvSpPr txBox="1"/>
          <p:nvPr/>
        </p:nvSpPr>
        <p:spPr>
          <a:xfrm>
            <a:off x="5321808" y="1627632"/>
            <a:ext cx="2377440" cy="320040"/>
          </a:xfrm>
          <a:prstGeom prst="rect">
            <a:avLst/>
          </a:prstGeom>
          <a:noFill/>
          <a:ln/>
        </p:spPr>
        <p:txBody>
          <a:bodyPr wrap="square" lIns="0" tIns="0" rIns="0" bIns="0" rtlCol="0" anchor="t"/>
          <a:lstStyle/>
          <a:p>
            <a:pPr indent="0" marL="0">
              <a:buNone/>
            </a:pPr>
            <a:r>
              <a:rPr lang="en-US" sz="1600" b="1" dirty="0">
                <a:solidFill>
                  <a:schemeClr val="tx1"/>
                </a:solidFill>
              </a:rPr>
              <a:t>Backend</a:t>
            </a:r>
            <a:endParaRPr lang="en-US" sz="1600" dirty="0"/>
          </a:p>
        </p:txBody>
      </p:sp>
      <p:sp>
        <p:nvSpPr>
          <p:cNvPr id="12" name="Text 8"/>
          <p:cNvSpPr txBox="1"/>
          <p:nvPr/>
        </p:nvSpPr>
        <p:spPr>
          <a:xfrm>
            <a:off x="5321808" y="1975104"/>
            <a:ext cx="2377440" cy="640080"/>
          </a:xfrm>
          <a:prstGeom prst="rect">
            <a:avLst/>
          </a:prstGeom>
          <a:noFill/>
          <a:ln/>
        </p:spPr>
        <p:txBody>
          <a:bodyPr wrap="square" lIns="0" tIns="0" rIns="0" bIns="0" rtlCol="0" anchor="t"/>
          <a:lstStyle/>
          <a:p>
            <a:pPr indent="0" marL="0">
              <a:buNone/>
            </a:pPr>
            <a:r>
              <a:rPr lang="en-US" sz="1300" dirty="0">
                <a:solidFill>
                  <a:schemeClr val="tx2"/>
                </a:solidFill>
              </a:rPr>
              <a:t>Python 3.12, FastAPI, Pydantic v2, Uvicorn</a:t>
            </a:r>
            <a:endParaRPr lang="en-US" sz="1300" dirty="0"/>
          </a:p>
        </p:txBody>
      </p:sp>
      <p:sp>
        <p:nvSpPr>
          <p:cNvPr id="13" name="stack-Data"/>
          <p:cNvSpPr/>
          <p:nvPr/>
        </p:nvSpPr>
        <p:spPr>
          <a:xfrm>
            <a:off x="8046720" y="1371600"/>
            <a:ext cx="3520440" cy="1371600"/>
          </a:xfrm>
          <a:prstGeom prst="roundRect">
            <a:avLst>
              <a:gd name="adj" fmla="val 5333"/>
            </a:avLst>
          </a:prstGeom>
          <a:solidFill>
            <a:schemeClr val="bg2"/>
          </a:solidFill>
          <a:ln/>
        </p:spPr>
      </p:sp>
      <p:sp>
        <p:nvSpPr>
          <p:cNvPr id="14" name="Shape 10"/>
          <p:cNvSpPr/>
          <p:nvPr/>
        </p:nvSpPr>
        <p:spPr>
          <a:xfrm>
            <a:off x="8275320" y="1755648"/>
            <a:ext cx="603504" cy="603504"/>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8408091" y="1888419"/>
            <a:ext cx="337962" cy="337962"/>
          </a:xfrm>
          <a:prstGeom prst="rect">
            <a:avLst/>
          </a:prstGeom>
        </p:spPr>
      </p:pic>
      <p:sp>
        <p:nvSpPr>
          <p:cNvPr id="16" name="Text 11"/>
          <p:cNvSpPr txBox="1"/>
          <p:nvPr/>
        </p:nvSpPr>
        <p:spPr>
          <a:xfrm>
            <a:off x="9070848" y="1627632"/>
            <a:ext cx="2377440" cy="320040"/>
          </a:xfrm>
          <a:prstGeom prst="rect">
            <a:avLst/>
          </a:prstGeom>
          <a:noFill/>
          <a:ln/>
        </p:spPr>
        <p:txBody>
          <a:bodyPr wrap="square" lIns="0" tIns="0" rIns="0" bIns="0" rtlCol="0" anchor="t"/>
          <a:lstStyle/>
          <a:p>
            <a:pPr indent="0" marL="0">
              <a:buNone/>
            </a:pPr>
            <a:r>
              <a:rPr lang="en-US" sz="1600" b="1" dirty="0">
                <a:solidFill>
                  <a:schemeClr val="tx1"/>
                </a:solidFill>
              </a:rPr>
              <a:t>Data</a:t>
            </a:r>
            <a:endParaRPr lang="en-US" sz="1600" dirty="0"/>
          </a:p>
        </p:txBody>
      </p:sp>
      <p:sp>
        <p:nvSpPr>
          <p:cNvPr id="17" name="Text 12"/>
          <p:cNvSpPr txBox="1"/>
          <p:nvPr/>
        </p:nvSpPr>
        <p:spPr>
          <a:xfrm>
            <a:off x="9070848" y="1975104"/>
            <a:ext cx="2377440" cy="640080"/>
          </a:xfrm>
          <a:prstGeom prst="rect">
            <a:avLst/>
          </a:prstGeom>
          <a:noFill/>
          <a:ln/>
        </p:spPr>
        <p:txBody>
          <a:bodyPr wrap="square" lIns="0" tIns="0" rIns="0" bIns="0" rtlCol="0" anchor="t"/>
          <a:lstStyle/>
          <a:p>
            <a:pPr indent="0" marL="0">
              <a:buNone/>
            </a:pPr>
            <a:r>
              <a:rPr lang="en-US" sz="1300" dirty="0">
                <a:solidFill>
                  <a:schemeClr val="tx2"/>
                </a:solidFill>
              </a:rPr>
              <a:t>PostgreSQL 17, SQLAlchemy 2, Alembic migrations</a:t>
            </a:r>
            <a:endParaRPr lang="en-US" sz="1300" dirty="0"/>
          </a:p>
        </p:txBody>
      </p:sp>
      <p:sp>
        <p:nvSpPr>
          <p:cNvPr id="18" name="stack-Quality"/>
          <p:cNvSpPr/>
          <p:nvPr/>
        </p:nvSpPr>
        <p:spPr>
          <a:xfrm>
            <a:off x="548640" y="2971800"/>
            <a:ext cx="3520440" cy="1371600"/>
          </a:xfrm>
          <a:prstGeom prst="roundRect">
            <a:avLst>
              <a:gd name="adj" fmla="val 5333"/>
            </a:avLst>
          </a:prstGeom>
          <a:solidFill>
            <a:schemeClr val="bg2"/>
          </a:solidFill>
          <a:ln/>
        </p:spPr>
      </p:sp>
      <p:sp>
        <p:nvSpPr>
          <p:cNvPr id="19" name="Shape 14"/>
          <p:cNvSpPr/>
          <p:nvPr/>
        </p:nvSpPr>
        <p:spPr>
          <a:xfrm>
            <a:off x="777240" y="3355848"/>
            <a:ext cx="603504" cy="603504"/>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910011" y="3488619"/>
            <a:ext cx="337962" cy="337962"/>
          </a:xfrm>
          <a:prstGeom prst="rect">
            <a:avLst/>
          </a:prstGeom>
        </p:spPr>
      </p:pic>
      <p:sp>
        <p:nvSpPr>
          <p:cNvPr id="21" name="Text 15"/>
          <p:cNvSpPr txBox="1"/>
          <p:nvPr/>
        </p:nvSpPr>
        <p:spPr>
          <a:xfrm>
            <a:off x="1572768" y="3227832"/>
            <a:ext cx="2377440" cy="320040"/>
          </a:xfrm>
          <a:prstGeom prst="rect">
            <a:avLst/>
          </a:prstGeom>
          <a:noFill/>
          <a:ln/>
        </p:spPr>
        <p:txBody>
          <a:bodyPr wrap="square" lIns="0" tIns="0" rIns="0" bIns="0" rtlCol="0" anchor="t"/>
          <a:lstStyle/>
          <a:p>
            <a:pPr indent="0" marL="0">
              <a:buNone/>
            </a:pPr>
            <a:r>
              <a:rPr lang="en-US" sz="1600" b="1" dirty="0">
                <a:solidFill>
                  <a:schemeClr val="tx1"/>
                </a:solidFill>
              </a:rPr>
              <a:t>Quality</a:t>
            </a:r>
            <a:endParaRPr lang="en-US" sz="1600" dirty="0"/>
          </a:p>
        </p:txBody>
      </p:sp>
      <p:sp>
        <p:nvSpPr>
          <p:cNvPr id="22" name="Text 16"/>
          <p:cNvSpPr txBox="1"/>
          <p:nvPr/>
        </p:nvSpPr>
        <p:spPr>
          <a:xfrm>
            <a:off x="1572768" y="3575304"/>
            <a:ext cx="2377440" cy="640080"/>
          </a:xfrm>
          <a:prstGeom prst="rect">
            <a:avLst/>
          </a:prstGeom>
          <a:noFill/>
          <a:ln/>
        </p:spPr>
        <p:txBody>
          <a:bodyPr wrap="square" lIns="0" tIns="0" rIns="0" bIns="0" rtlCol="0" anchor="t"/>
          <a:lstStyle/>
          <a:p>
            <a:pPr indent="0" marL="0">
              <a:buNone/>
            </a:pPr>
            <a:r>
              <a:rPr lang="en-US" sz="1300" dirty="0">
                <a:solidFill>
                  <a:schemeClr val="tx2"/>
                </a:solidFill>
              </a:rPr>
              <a:t>pytest (19 tests), flake8, in-memory SQLite test DB</a:t>
            </a:r>
            <a:endParaRPr lang="en-US" sz="1300" dirty="0"/>
          </a:p>
        </p:txBody>
      </p:sp>
      <p:sp>
        <p:nvSpPr>
          <p:cNvPr id="23" name="stack-Containers"/>
          <p:cNvSpPr/>
          <p:nvPr/>
        </p:nvSpPr>
        <p:spPr>
          <a:xfrm>
            <a:off x="4297680" y="2971800"/>
            <a:ext cx="3520440" cy="1371600"/>
          </a:xfrm>
          <a:prstGeom prst="roundRect">
            <a:avLst>
              <a:gd name="adj" fmla="val 5333"/>
            </a:avLst>
          </a:prstGeom>
          <a:solidFill>
            <a:schemeClr val="bg2"/>
          </a:solidFill>
          <a:ln/>
        </p:spPr>
      </p:sp>
      <p:sp>
        <p:nvSpPr>
          <p:cNvPr id="24" name="Shape 18"/>
          <p:cNvSpPr/>
          <p:nvPr/>
        </p:nvSpPr>
        <p:spPr>
          <a:xfrm>
            <a:off x="4526280" y="3355848"/>
            <a:ext cx="603504" cy="603504"/>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4659051" y="3488619"/>
            <a:ext cx="337962" cy="337962"/>
          </a:xfrm>
          <a:prstGeom prst="rect">
            <a:avLst/>
          </a:prstGeom>
        </p:spPr>
      </p:pic>
      <p:sp>
        <p:nvSpPr>
          <p:cNvPr id="26" name="Text 19"/>
          <p:cNvSpPr txBox="1"/>
          <p:nvPr/>
        </p:nvSpPr>
        <p:spPr>
          <a:xfrm>
            <a:off x="5321808" y="3227832"/>
            <a:ext cx="2377440" cy="320040"/>
          </a:xfrm>
          <a:prstGeom prst="rect">
            <a:avLst/>
          </a:prstGeom>
          <a:noFill/>
          <a:ln/>
        </p:spPr>
        <p:txBody>
          <a:bodyPr wrap="square" lIns="0" tIns="0" rIns="0" bIns="0" rtlCol="0" anchor="t"/>
          <a:lstStyle/>
          <a:p>
            <a:pPr indent="0" marL="0">
              <a:buNone/>
            </a:pPr>
            <a:r>
              <a:rPr lang="en-US" sz="1600" b="1" dirty="0">
                <a:solidFill>
                  <a:schemeClr val="tx1"/>
                </a:solidFill>
              </a:rPr>
              <a:t>Containers</a:t>
            </a:r>
            <a:endParaRPr lang="en-US" sz="1600" dirty="0"/>
          </a:p>
        </p:txBody>
      </p:sp>
      <p:sp>
        <p:nvSpPr>
          <p:cNvPr id="27" name="Text 20"/>
          <p:cNvSpPr txBox="1"/>
          <p:nvPr/>
        </p:nvSpPr>
        <p:spPr>
          <a:xfrm>
            <a:off x="5321808" y="3575304"/>
            <a:ext cx="2377440" cy="640080"/>
          </a:xfrm>
          <a:prstGeom prst="rect">
            <a:avLst/>
          </a:prstGeom>
          <a:noFill/>
          <a:ln/>
        </p:spPr>
        <p:txBody>
          <a:bodyPr wrap="square" lIns="0" tIns="0" rIns="0" bIns="0" rtlCol="0" anchor="t"/>
          <a:lstStyle/>
          <a:p>
            <a:pPr indent="0" marL="0">
              <a:buNone/>
            </a:pPr>
            <a:r>
              <a:rPr lang="en-US" sz="1300" dirty="0">
                <a:solidFill>
                  <a:schemeClr val="tx2"/>
                </a:solidFill>
              </a:rPr>
              <a:t>Multi-stage Dockerfiles, non-root, Docker Compose</a:t>
            </a:r>
            <a:endParaRPr lang="en-US" sz="1300" dirty="0"/>
          </a:p>
        </p:txBody>
      </p:sp>
      <p:sp>
        <p:nvSpPr>
          <p:cNvPr id="28" name="stack-CI/CD + security"/>
          <p:cNvSpPr/>
          <p:nvPr/>
        </p:nvSpPr>
        <p:spPr>
          <a:xfrm>
            <a:off x="8046720" y="2971800"/>
            <a:ext cx="3520440" cy="1371600"/>
          </a:xfrm>
          <a:prstGeom prst="roundRect">
            <a:avLst>
              <a:gd name="adj" fmla="val 5333"/>
            </a:avLst>
          </a:prstGeom>
          <a:solidFill>
            <a:schemeClr val="bg2"/>
          </a:solidFill>
          <a:ln/>
        </p:spPr>
      </p:sp>
      <p:sp>
        <p:nvSpPr>
          <p:cNvPr id="29" name="Shape 22"/>
          <p:cNvSpPr/>
          <p:nvPr/>
        </p:nvSpPr>
        <p:spPr>
          <a:xfrm>
            <a:off x="8275320" y="3355848"/>
            <a:ext cx="603504" cy="603504"/>
          </a:xfrm>
          <a:prstGeom prst="ellipse">
            <a:avLst/>
          </a:prstGeom>
          <a:solidFill>
            <a:schemeClr val="accent1"/>
          </a:solidFill>
          <a:ln/>
        </p:spPr>
      </p:sp>
      <p:pic>
        <p:nvPicPr>
          <p:cNvPr id="30" name="Image 5" descr="preencoded.png">    </p:cNvPr>
          <p:cNvPicPr>
            <a:picLocks noChangeAspect="1"/>
          </p:cNvPicPr>
          <p:nvPr/>
        </p:nvPicPr>
        <p:blipFill>
          <a:blip r:embed="rId6"/>
          <a:stretch>
            <a:fillRect/>
          </a:stretch>
        </p:blipFill>
        <p:spPr>
          <a:xfrm>
            <a:off x="8408091" y="3488619"/>
            <a:ext cx="337962" cy="337962"/>
          </a:xfrm>
          <a:prstGeom prst="rect">
            <a:avLst/>
          </a:prstGeom>
        </p:spPr>
      </p:pic>
      <p:sp>
        <p:nvSpPr>
          <p:cNvPr id="31" name="Text 23"/>
          <p:cNvSpPr txBox="1"/>
          <p:nvPr/>
        </p:nvSpPr>
        <p:spPr>
          <a:xfrm>
            <a:off x="9070848" y="3227832"/>
            <a:ext cx="2377440" cy="320040"/>
          </a:xfrm>
          <a:prstGeom prst="rect">
            <a:avLst/>
          </a:prstGeom>
          <a:noFill/>
          <a:ln/>
        </p:spPr>
        <p:txBody>
          <a:bodyPr wrap="square" lIns="0" tIns="0" rIns="0" bIns="0" rtlCol="0" anchor="t"/>
          <a:lstStyle/>
          <a:p>
            <a:pPr indent="0" marL="0">
              <a:buNone/>
            </a:pPr>
            <a:r>
              <a:rPr lang="en-US" sz="1600" b="1" dirty="0">
                <a:solidFill>
                  <a:schemeClr val="tx1"/>
                </a:solidFill>
              </a:rPr>
              <a:t>CI/CD + security</a:t>
            </a:r>
            <a:endParaRPr lang="en-US" sz="1600" dirty="0"/>
          </a:p>
        </p:txBody>
      </p:sp>
      <p:sp>
        <p:nvSpPr>
          <p:cNvPr id="32" name="Text 24"/>
          <p:cNvSpPr txBox="1"/>
          <p:nvPr/>
        </p:nvSpPr>
        <p:spPr>
          <a:xfrm>
            <a:off x="9070848" y="3575304"/>
            <a:ext cx="2377440" cy="640080"/>
          </a:xfrm>
          <a:prstGeom prst="rect">
            <a:avLst/>
          </a:prstGeom>
          <a:noFill/>
          <a:ln/>
        </p:spPr>
        <p:txBody>
          <a:bodyPr wrap="square" lIns="0" tIns="0" rIns="0" bIns="0" rtlCol="0" anchor="t"/>
          <a:lstStyle/>
          <a:p>
            <a:pPr indent="0" marL="0">
              <a:buNone/>
            </a:pPr>
            <a:r>
              <a:rPr lang="en-US" sz="1300" dirty="0">
                <a:solidFill>
                  <a:schemeClr val="tx2"/>
                </a:solidFill>
              </a:rPr>
              <a:t>GitHub Actions, Trivy gate, GHCR with SHA tags</a:t>
            </a:r>
            <a:endParaRPr lang="en-US" sz="1300" dirty="0"/>
          </a:p>
        </p:txBody>
      </p:sp>
      <p:sp>
        <p:nvSpPr>
          <p:cNvPr id="33" name="stack-Infrastructure"/>
          <p:cNvSpPr/>
          <p:nvPr/>
        </p:nvSpPr>
        <p:spPr>
          <a:xfrm>
            <a:off x="548640" y="4572000"/>
            <a:ext cx="3520440" cy="1371600"/>
          </a:xfrm>
          <a:prstGeom prst="roundRect">
            <a:avLst>
              <a:gd name="adj" fmla="val 5333"/>
            </a:avLst>
          </a:prstGeom>
          <a:solidFill>
            <a:schemeClr val="bg2"/>
          </a:solidFill>
          <a:ln/>
        </p:spPr>
      </p:sp>
      <p:sp>
        <p:nvSpPr>
          <p:cNvPr id="34" name="Shape 26"/>
          <p:cNvSpPr/>
          <p:nvPr/>
        </p:nvSpPr>
        <p:spPr>
          <a:xfrm>
            <a:off x="777240" y="4956048"/>
            <a:ext cx="603504" cy="603504"/>
          </a:xfrm>
          <a:prstGeom prst="ellipse">
            <a:avLst/>
          </a:prstGeom>
          <a:solidFill>
            <a:schemeClr val="accent1"/>
          </a:solidFill>
          <a:ln/>
        </p:spPr>
      </p:sp>
      <p:pic>
        <p:nvPicPr>
          <p:cNvPr id="35" name="Image 6" descr="preencoded.png">    </p:cNvPr>
          <p:cNvPicPr>
            <a:picLocks noChangeAspect="1"/>
          </p:cNvPicPr>
          <p:nvPr/>
        </p:nvPicPr>
        <p:blipFill>
          <a:blip r:embed="rId7"/>
          <a:stretch>
            <a:fillRect/>
          </a:stretch>
        </p:blipFill>
        <p:spPr>
          <a:xfrm>
            <a:off x="910011" y="5088819"/>
            <a:ext cx="337962" cy="337962"/>
          </a:xfrm>
          <a:prstGeom prst="rect">
            <a:avLst/>
          </a:prstGeom>
        </p:spPr>
      </p:pic>
      <p:sp>
        <p:nvSpPr>
          <p:cNvPr id="36" name="Text 27"/>
          <p:cNvSpPr txBox="1"/>
          <p:nvPr/>
        </p:nvSpPr>
        <p:spPr>
          <a:xfrm>
            <a:off x="1572768" y="4828032"/>
            <a:ext cx="2377440" cy="320040"/>
          </a:xfrm>
          <a:prstGeom prst="rect">
            <a:avLst/>
          </a:prstGeom>
          <a:noFill/>
          <a:ln/>
        </p:spPr>
        <p:txBody>
          <a:bodyPr wrap="square" lIns="0" tIns="0" rIns="0" bIns="0" rtlCol="0" anchor="t"/>
          <a:lstStyle/>
          <a:p>
            <a:pPr indent="0" marL="0">
              <a:buNone/>
            </a:pPr>
            <a:r>
              <a:rPr lang="en-US" sz="1600" b="1" dirty="0">
                <a:solidFill>
                  <a:schemeClr val="tx1"/>
                </a:solidFill>
              </a:rPr>
              <a:t>Infrastructure</a:t>
            </a:r>
            <a:endParaRPr lang="en-US" sz="1600" dirty="0"/>
          </a:p>
        </p:txBody>
      </p:sp>
      <p:sp>
        <p:nvSpPr>
          <p:cNvPr id="37" name="Text 28"/>
          <p:cNvSpPr txBox="1"/>
          <p:nvPr/>
        </p:nvSpPr>
        <p:spPr>
          <a:xfrm>
            <a:off x="1572768" y="5175504"/>
            <a:ext cx="2377440" cy="640080"/>
          </a:xfrm>
          <a:prstGeom prst="rect">
            <a:avLst/>
          </a:prstGeom>
          <a:noFill/>
          <a:ln/>
        </p:spPr>
        <p:txBody>
          <a:bodyPr wrap="square" lIns="0" tIns="0" rIns="0" bIns="0" rtlCol="0" anchor="t"/>
          <a:lstStyle/>
          <a:p>
            <a:pPr indent="0" marL="0">
              <a:buNone/>
            </a:pPr>
            <a:r>
              <a:rPr lang="en-US" sz="1300" dirty="0">
                <a:solidFill>
                  <a:schemeClr val="tx2"/>
                </a:solidFill>
              </a:rPr>
              <a:t>Terraform: AWS VPC, NAT, EKS, managed nodes</a:t>
            </a:r>
            <a:endParaRPr lang="en-US" sz="1300" dirty="0"/>
          </a:p>
        </p:txBody>
      </p:sp>
      <p:sp>
        <p:nvSpPr>
          <p:cNvPr id="38" name="stack-Platform"/>
          <p:cNvSpPr/>
          <p:nvPr/>
        </p:nvSpPr>
        <p:spPr>
          <a:xfrm>
            <a:off x="4297680" y="4572000"/>
            <a:ext cx="3520440" cy="1371600"/>
          </a:xfrm>
          <a:prstGeom prst="roundRect">
            <a:avLst>
              <a:gd name="adj" fmla="val 5333"/>
            </a:avLst>
          </a:prstGeom>
          <a:solidFill>
            <a:schemeClr val="bg2"/>
          </a:solidFill>
          <a:ln/>
        </p:spPr>
      </p:sp>
      <p:sp>
        <p:nvSpPr>
          <p:cNvPr id="39" name="Shape 30"/>
          <p:cNvSpPr/>
          <p:nvPr/>
        </p:nvSpPr>
        <p:spPr>
          <a:xfrm>
            <a:off x="4526280" y="4956048"/>
            <a:ext cx="603504" cy="603504"/>
          </a:xfrm>
          <a:prstGeom prst="ellipse">
            <a:avLst/>
          </a:prstGeom>
          <a:solidFill>
            <a:schemeClr val="accent1"/>
          </a:solidFill>
          <a:ln/>
        </p:spPr>
      </p:sp>
      <p:pic>
        <p:nvPicPr>
          <p:cNvPr id="40" name="Image 7" descr="preencoded.png">    </p:cNvPr>
          <p:cNvPicPr>
            <a:picLocks noChangeAspect="1"/>
          </p:cNvPicPr>
          <p:nvPr/>
        </p:nvPicPr>
        <p:blipFill>
          <a:blip r:embed="rId8"/>
          <a:stretch>
            <a:fillRect/>
          </a:stretch>
        </p:blipFill>
        <p:spPr>
          <a:xfrm>
            <a:off x="4659051" y="5088819"/>
            <a:ext cx="337962" cy="337962"/>
          </a:xfrm>
          <a:prstGeom prst="rect">
            <a:avLst/>
          </a:prstGeom>
        </p:spPr>
      </p:pic>
      <p:sp>
        <p:nvSpPr>
          <p:cNvPr id="41" name="Text 31"/>
          <p:cNvSpPr txBox="1"/>
          <p:nvPr/>
        </p:nvSpPr>
        <p:spPr>
          <a:xfrm>
            <a:off x="5321808" y="4828032"/>
            <a:ext cx="2377440" cy="320040"/>
          </a:xfrm>
          <a:prstGeom prst="rect">
            <a:avLst/>
          </a:prstGeom>
          <a:noFill/>
          <a:ln/>
        </p:spPr>
        <p:txBody>
          <a:bodyPr wrap="square" lIns="0" tIns="0" rIns="0" bIns="0" rtlCol="0" anchor="t"/>
          <a:lstStyle/>
          <a:p>
            <a:pPr indent="0" marL="0">
              <a:buNone/>
            </a:pPr>
            <a:r>
              <a:rPr lang="en-US" sz="1600" b="1" dirty="0">
                <a:solidFill>
                  <a:schemeClr val="tx1"/>
                </a:solidFill>
              </a:rPr>
              <a:t>Platform</a:t>
            </a:r>
            <a:endParaRPr lang="en-US" sz="1600" dirty="0"/>
          </a:p>
        </p:txBody>
      </p:sp>
      <p:sp>
        <p:nvSpPr>
          <p:cNvPr id="42" name="Text 32"/>
          <p:cNvSpPr txBox="1"/>
          <p:nvPr/>
        </p:nvSpPr>
        <p:spPr>
          <a:xfrm>
            <a:off x="5321808" y="5175504"/>
            <a:ext cx="2377440" cy="640080"/>
          </a:xfrm>
          <a:prstGeom prst="rect">
            <a:avLst/>
          </a:prstGeom>
          <a:noFill/>
          <a:ln/>
        </p:spPr>
        <p:txBody>
          <a:bodyPr wrap="square" lIns="0" tIns="0" rIns="0" bIns="0" rtlCol="0" anchor="t"/>
          <a:lstStyle/>
          <a:p>
            <a:pPr indent="0" marL="0">
              <a:buNone/>
            </a:pPr>
            <a:r>
              <a:rPr lang="en-US" sz="1300" dirty="0">
                <a:solidFill>
                  <a:schemeClr val="tx2"/>
                </a:solidFill>
              </a:rPr>
              <a:t>Kubernetes, Helm, Argo CD, Traefik ingress, HPA</a:t>
            </a:r>
            <a:endParaRPr lang="en-US" sz="1300" dirty="0"/>
          </a:p>
        </p:txBody>
      </p:sp>
      <p:sp>
        <p:nvSpPr>
          <p:cNvPr id="43" name="stack-Observability"/>
          <p:cNvSpPr/>
          <p:nvPr/>
        </p:nvSpPr>
        <p:spPr>
          <a:xfrm>
            <a:off x="8046720" y="4572000"/>
            <a:ext cx="3520440" cy="1371600"/>
          </a:xfrm>
          <a:prstGeom prst="roundRect">
            <a:avLst>
              <a:gd name="adj" fmla="val 5333"/>
            </a:avLst>
          </a:prstGeom>
          <a:solidFill>
            <a:schemeClr val="bg2"/>
          </a:solidFill>
          <a:ln/>
        </p:spPr>
      </p:sp>
      <p:sp>
        <p:nvSpPr>
          <p:cNvPr id="44" name="Shape 34"/>
          <p:cNvSpPr/>
          <p:nvPr/>
        </p:nvSpPr>
        <p:spPr>
          <a:xfrm>
            <a:off x="8275320" y="4956048"/>
            <a:ext cx="603504" cy="603504"/>
          </a:xfrm>
          <a:prstGeom prst="ellipse">
            <a:avLst/>
          </a:prstGeom>
          <a:solidFill>
            <a:schemeClr val="accent1"/>
          </a:solidFill>
          <a:ln/>
        </p:spPr>
      </p:sp>
      <p:pic>
        <p:nvPicPr>
          <p:cNvPr id="45" name="Image 8" descr="preencoded.png">    </p:cNvPr>
          <p:cNvPicPr>
            <a:picLocks noChangeAspect="1"/>
          </p:cNvPicPr>
          <p:nvPr/>
        </p:nvPicPr>
        <p:blipFill>
          <a:blip r:embed="rId9"/>
          <a:stretch>
            <a:fillRect/>
          </a:stretch>
        </p:blipFill>
        <p:spPr>
          <a:xfrm>
            <a:off x="8408091" y="5088819"/>
            <a:ext cx="337962" cy="337962"/>
          </a:xfrm>
          <a:prstGeom prst="rect">
            <a:avLst/>
          </a:prstGeom>
        </p:spPr>
      </p:pic>
      <p:sp>
        <p:nvSpPr>
          <p:cNvPr id="46" name="Text 35"/>
          <p:cNvSpPr txBox="1"/>
          <p:nvPr/>
        </p:nvSpPr>
        <p:spPr>
          <a:xfrm>
            <a:off x="9070848" y="4828032"/>
            <a:ext cx="2377440" cy="320040"/>
          </a:xfrm>
          <a:prstGeom prst="rect">
            <a:avLst/>
          </a:prstGeom>
          <a:noFill/>
          <a:ln/>
        </p:spPr>
        <p:txBody>
          <a:bodyPr wrap="square" lIns="0" tIns="0" rIns="0" bIns="0" rtlCol="0" anchor="t"/>
          <a:lstStyle/>
          <a:p>
            <a:pPr indent="0" marL="0">
              <a:buNone/>
            </a:pPr>
            <a:r>
              <a:rPr lang="en-US" sz="1600" b="1" dirty="0">
                <a:solidFill>
                  <a:schemeClr val="tx1"/>
                </a:solidFill>
              </a:rPr>
              <a:t>Observability</a:t>
            </a:r>
            <a:endParaRPr lang="en-US" sz="1600" dirty="0"/>
          </a:p>
        </p:txBody>
      </p:sp>
      <p:sp>
        <p:nvSpPr>
          <p:cNvPr id="47" name="Text 36"/>
          <p:cNvSpPr txBox="1"/>
          <p:nvPr/>
        </p:nvSpPr>
        <p:spPr>
          <a:xfrm>
            <a:off x="9070848" y="5175504"/>
            <a:ext cx="2377440" cy="640080"/>
          </a:xfrm>
          <a:prstGeom prst="rect">
            <a:avLst/>
          </a:prstGeom>
          <a:noFill/>
          <a:ln/>
        </p:spPr>
        <p:txBody>
          <a:bodyPr wrap="square" lIns="0" tIns="0" rIns="0" bIns="0" rtlCol="0" anchor="t"/>
          <a:lstStyle/>
          <a:p>
            <a:pPr indent="0" marL="0">
              <a:buNone/>
            </a:pPr>
            <a:r>
              <a:rPr lang="en-US" sz="1300" dirty="0">
                <a:solidFill>
                  <a:schemeClr val="tx2"/>
                </a:solidFill>
              </a:rPr>
              <a:t>Prometheus, ServiceMonitor, alerts, Grafana</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Architecture: from git push to running pods</a:t>
            </a:r>
            <a:endParaRPr lang="en-US" sz="3200" dirty="0"/>
          </a:p>
        </p:txBody>
      </p:sp>
      <p:sp>
        <p:nvSpPr>
          <p:cNvPr id="3" name="Shape 1"/>
          <p:cNvSpPr/>
          <p:nvPr/>
        </p:nvSpPr>
        <p:spPr>
          <a:xfrm>
            <a:off x="548640" y="1417320"/>
            <a:ext cx="2743200" cy="640080"/>
          </a:xfrm>
          <a:prstGeom prst="roundRect">
            <a:avLst>
              <a:gd name="adj" fmla="val 11429"/>
            </a:avLst>
          </a:prstGeom>
          <a:solidFill>
            <a:schemeClr val="bg1"/>
          </a:solidFill>
          <a:ln w="12700">
            <a:solidFill>
              <a:schemeClr val="accent4"/>
            </a:solidFill>
            <a:prstDash val="solid"/>
          </a:ln>
        </p:spPr>
      </p:sp>
      <p:sp>
        <p:nvSpPr>
          <p:cNvPr id="4" name="Text 2"/>
          <p:cNvSpPr txBox="1"/>
          <p:nvPr/>
        </p:nvSpPr>
        <p:spPr>
          <a:xfrm>
            <a:off x="548640" y="1417320"/>
            <a:ext cx="2743200" cy="640080"/>
          </a:xfrm>
          <a:prstGeom prst="rect">
            <a:avLst/>
          </a:prstGeom>
          <a:noFill/>
          <a:ln/>
        </p:spPr>
        <p:txBody>
          <a:bodyPr wrap="square" lIns="508" tIns="508" rIns="508" bIns="508" rtlCol="0" anchor="ctr"/>
          <a:lstStyle/>
          <a:p>
            <a:pPr algn="ctr" indent="0" marL="0">
              <a:buNone/>
            </a:pPr>
            <a:r>
              <a:rPr lang="en-US" sz="1300" b="1" dirty="0">
                <a:solidFill>
                  <a:schemeClr val="tx1"/>
                </a:solidFill>
              </a:rPr>
              <a:t>Developer</a:t>
            </a:r>
            <a:endParaRPr lang="en-US" sz="1300" dirty="0"/>
          </a:p>
          <a:p>
            <a:pPr algn="ctr" indent="0" marL="0">
              <a:buNone/>
            </a:pPr>
            <a:r>
              <a:rPr lang="en-US" sz="1100" dirty="0">
                <a:solidFill>
                  <a:schemeClr val="accent4"/>
                </a:solidFill>
              </a:rPr>
              <a:t>git push to main</a:t>
            </a:r>
            <a:endParaRPr lang="en-US" sz="1300" dirty="0"/>
          </a:p>
        </p:txBody>
      </p:sp>
      <p:sp>
        <p:nvSpPr>
          <p:cNvPr id="5" name="Shape 3"/>
          <p:cNvSpPr/>
          <p:nvPr/>
        </p:nvSpPr>
        <p:spPr>
          <a:xfrm>
            <a:off x="548640" y="2514600"/>
            <a:ext cx="2743200" cy="640080"/>
          </a:xfrm>
          <a:prstGeom prst="roundRect">
            <a:avLst>
              <a:gd name="adj" fmla="val 11429"/>
            </a:avLst>
          </a:prstGeom>
          <a:solidFill>
            <a:schemeClr val="bg1"/>
          </a:solidFill>
          <a:ln w="12700">
            <a:solidFill>
              <a:schemeClr val="accent4"/>
            </a:solidFill>
            <a:prstDash val="solid"/>
          </a:ln>
        </p:spPr>
      </p:sp>
      <p:sp>
        <p:nvSpPr>
          <p:cNvPr id="6" name="Text 4"/>
          <p:cNvSpPr txBox="1"/>
          <p:nvPr/>
        </p:nvSpPr>
        <p:spPr>
          <a:xfrm>
            <a:off x="548640" y="2514600"/>
            <a:ext cx="2743200" cy="640080"/>
          </a:xfrm>
          <a:prstGeom prst="rect">
            <a:avLst/>
          </a:prstGeom>
          <a:noFill/>
          <a:ln/>
        </p:spPr>
        <p:txBody>
          <a:bodyPr wrap="square" lIns="508" tIns="508" rIns="508" bIns="508" rtlCol="0" anchor="ctr"/>
          <a:lstStyle/>
          <a:p>
            <a:pPr algn="ctr" indent="0" marL="0">
              <a:buNone/>
            </a:pPr>
            <a:r>
              <a:rPr lang="en-US" sz="1300" b="1" dirty="0">
                <a:solidFill>
                  <a:schemeClr val="tx1"/>
                </a:solidFill>
              </a:rPr>
              <a:t>GitHub repository</a:t>
            </a:r>
            <a:endParaRPr lang="en-US" sz="1300" dirty="0"/>
          </a:p>
          <a:p>
            <a:pPr algn="ctr" indent="0" marL="0">
              <a:buNone/>
            </a:pPr>
            <a:r>
              <a:rPr lang="en-US" sz="1100" dirty="0">
                <a:solidFill>
                  <a:schemeClr val="accent4"/>
                </a:solidFill>
              </a:rPr>
              <a:t>source + Helm values</a:t>
            </a:r>
            <a:endParaRPr lang="en-US" sz="1300" dirty="0"/>
          </a:p>
        </p:txBody>
      </p:sp>
      <p:sp>
        <p:nvSpPr>
          <p:cNvPr id="7" name="Shape 5"/>
          <p:cNvSpPr/>
          <p:nvPr/>
        </p:nvSpPr>
        <p:spPr>
          <a:xfrm>
            <a:off x="548640" y="3611880"/>
            <a:ext cx="2743200" cy="960120"/>
          </a:xfrm>
          <a:prstGeom prst="roundRect">
            <a:avLst>
              <a:gd name="adj" fmla="val 7619"/>
            </a:avLst>
          </a:prstGeom>
          <a:solidFill>
            <a:schemeClr val="bg2"/>
          </a:solidFill>
          <a:ln w="12700">
            <a:solidFill>
              <a:schemeClr val="accent4"/>
            </a:solidFill>
            <a:prstDash val="solid"/>
          </a:ln>
        </p:spPr>
      </p:sp>
      <p:sp>
        <p:nvSpPr>
          <p:cNvPr id="8" name="Text 6"/>
          <p:cNvSpPr txBox="1"/>
          <p:nvPr/>
        </p:nvSpPr>
        <p:spPr>
          <a:xfrm>
            <a:off x="548640" y="3611880"/>
            <a:ext cx="2743200" cy="960120"/>
          </a:xfrm>
          <a:prstGeom prst="rect">
            <a:avLst/>
          </a:prstGeom>
          <a:noFill/>
          <a:ln/>
        </p:spPr>
        <p:txBody>
          <a:bodyPr wrap="square" lIns="508" tIns="508" rIns="508" bIns="508" rtlCol="0" anchor="ctr"/>
          <a:lstStyle/>
          <a:p>
            <a:pPr algn="ctr" indent="0" marL="0">
              <a:buNone/>
            </a:pPr>
            <a:r>
              <a:rPr lang="en-US" sz="1300" b="1" dirty="0">
                <a:solidFill>
                  <a:schemeClr val="tx1"/>
                </a:solidFill>
              </a:rPr>
              <a:t>GitHub Actions</a:t>
            </a:r>
            <a:endParaRPr lang="en-US" sz="1300" dirty="0"/>
          </a:p>
          <a:p>
            <a:pPr algn="ctr" indent="0" marL="0">
              <a:buNone/>
            </a:pPr>
            <a:r>
              <a:rPr lang="en-US" sz="1100" dirty="0">
                <a:solidFill>
                  <a:schemeClr val="accent4"/>
                </a:solidFill>
              </a:rPr>
              <a:t>pytest · npm build · docker build</a:t>
            </a:r>
            <a:endParaRPr lang="en-US" sz="1300" dirty="0"/>
          </a:p>
          <a:p>
            <a:pPr algn="ctr" indent="0" marL="0">
              <a:buNone/>
            </a:pPr>
            <a:r>
              <a:rPr lang="en-US" sz="1100" dirty="0">
                <a:solidFill>
                  <a:schemeClr val="accent4"/>
                </a:solidFill>
              </a:rPr>
              <a:t>Trivy gate · push · bump tag</a:t>
            </a:r>
            <a:endParaRPr lang="en-US" sz="1300" dirty="0"/>
          </a:p>
        </p:txBody>
      </p:sp>
      <p:sp>
        <p:nvSpPr>
          <p:cNvPr id="9" name="Shape 7"/>
          <p:cNvSpPr/>
          <p:nvPr/>
        </p:nvSpPr>
        <p:spPr>
          <a:xfrm>
            <a:off x="548640" y="5029200"/>
            <a:ext cx="2743200" cy="640080"/>
          </a:xfrm>
          <a:prstGeom prst="roundRect">
            <a:avLst>
              <a:gd name="adj" fmla="val 11429"/>
            </a:avLst>
          </a:prstGeom>
          <a:solidFill>
            <a:schemeClr val="bg1"/>
          </a:solidFill>
          <a:ln w="12700">
            <a:solidFill>
              <a:schemeClr val="accent4"/>
            </a:solidFill>
            <a:prstDash val="solid"/>
          </a:ln>
        </p:spPr>
      </p:sp>
      <p:sp>
        <p:nvSpPr>
          <p:cNvPr id="10" name="Text 8"/>
          <p:cNvSpPr txBox="1"/>
          <p:nvPr/>
        </p:nvSpPr>
        <p:spPr>
          <a:xfrm>
            <a:off x="548640" y="5029200"/>
            <a:ext cx="2743200" cy="640080"/>
          </a:xfrm>
          <a:prstGeom prst="rect">
            <a:avLst/>
          </a:prstGeom>
          <a:noFill/>
          <a:ln/>
        </p:spPr>
        <p:txBody>
          <a:bodyPr wrap="square" lIns="508" tIns="508" rIns="508" bIns="508" rtlCol="0" anchor="ctr"/>
          <a:lstStyle/>
          <a:p>
            <a:pPr algn="ctr" indent="0" marL="0">
              <a:buNone/>
            </a:pPr>
            <a:r>
              <a:rPr lang="en-US" sz="1300" b="1" dirty="0">
                <a:solidFill>
                  <a:schemeClr val="tx1"/>
                </a:solidFill>
              </a:rPr>
              <a:t>GHCR</a:t>
            </a:r>
            <a:endParaRPr lang="en-US" sz="1300" dirty="0"/>
          </a:p>
          <a:p>
            <a:pPr algn="ctr" indent="0" marL="0">
              <a:buNone/>
            </a:pPr>
            <a:r>
              <a:rPr lang="en-US" sz="1100" dirty="0">
                <a:solidFill>
                  <a:schemeClr val="accent4"/>
                </a:solidFill>
              </a:rPr>
              <a:t>stockpilot-*:&lt;git-sha&gt;</a:t>
            </a:r>
            <a:endParaRPr lang="en-US" sz="1300" dirty="0"/>
          </a:p>
        </p:txBody>
      </p:sp>
      <p:sp>
        <p:nvSpPr>
          <p:cNvPr id="11" name="Shape 9"/>
          <p:cNvSpPr/>
          <p:nvPr/>
        </p:nvSpPr>
        <p:spPr>
          <a:xfrm>
            <a:off x="1920240" y="2057400"/>
            <a:ext cx="914" cy="457200"/>
          </a:xfrm>
          <a:prstGeom prst="line">
            <a:avLst/>
          </a:prstGeom>
          <a:noFill/>
          <a:ln w="19050">
            <a:solidFill>
              <a:schemeClr val="accent4"/>
            </a:solidFill>
            <a:prstDash val="solid"/>
            <a:tailEnd type="triangle"/>
          </a:ln>
        </p:spPr>
      </p:sp>
      <p:sp>
        <p:nvSpPr>
          <p:cNvPr id="12" name="Shape 10"/>
          <p:cNvSpPr/>
          <p:nvPr/>
        </p:nvSpPr>
        <p:spPr>
          <a:xfrm>
            <a:off x="1920240" y="3154680"/>
            <a:ext cx="914" cy="457200"/>
          </a:xfrm>
          <a:prstGeom prst="line">
            <a:avLst/>
          </a:prstGeom>
          <a:noFill/>
          <a:ln w="19050">
            <a:solidFill>
              <a:schemeClr val="accent4"/>
            </a:solidFill>
            <a:prstDash val="solid"/>
            <a:tailEnd type="triangle"/>
          </a:ln>
        </p:spPr>
      </p:sp>
      <p:sp>
        <p:nvSpPr>
          <p:cNvPr id="13" name="Shape 11"/>
          <p:cNvSpPr/>
          <p:nvPr/>
        </p:nvSpPr>
        <p:spPr>
          <a:xfrm>
            <a:off x="1920240" y="4572000"/>
            <a:ext cx="914" cy="457200"/>
          </a:xfrm>
          <a:prstGeom prst="line">
            <a:avLst/>
          </a:prstGeom>
          <a:noFill/>
          <a:ln w="19050">
            <a:solidFill>
              <a:schemeClr val="accent4"/>
            </a:solidFill>
            <a:prstDash val="solid"/>
            <a:tailEnd type="triangle"/>
          </a:ln>
        </p:spPr>
      </p:sp>
      <p:sp>
        <p:nvSpPr>
          <p:cNvPr id="14" name="aws-frame"/>
          <p:cNvSpPr/>
          <p:nvPr/>
        </p:nvSpPr>
        <p:spPr>
          <a:xfrm>
            <a:off x="4206240" y="1325880"/>
            <a:ext cx="7452360" cy="4892040"/>
          </a:xfrm>
          <a:prstGeom prst="roundRect">
            <a:avLst>
              <a:gd name="adj" fmla="val 1495"/>
            </a:avLst>
          </a:prstGeom>
          <a:solidFill>
            <a:schemeClr val="bg2"/>
          </a:solidFill>
          <a:ln w="12700">
            <a:solidFill>
              <a:schemeClr val="accent2"/>
            </a:solidFill>
            <a:prstDash val="dash"/>
          </a:ln>
        </p:spPr>
      </p:sp>
      <p:sp>
        <p:nvSpPr>
          <p:cNvPr id="15" name="Text 13"/>
          <p:cNvSpPr txBox="1"/>
          <p:nvPr/>
        </p:nvSpPr>
        <p:spPr>
          <a:xfrm>
            <a:off x="4389120" y="1417320"/>
            <a:ext cx="7132320" cy="274320"/>
          </a:xfrm>
          <a:prstGeom prst="rect">
            <a:avLst/>
          </a:prstGeom>
          <a:noFill/>
          <a:ln/>
        </p:spPr>
        <p:txBody>
          <a:bodyPr wrap="square" lIns="0" tIns="0" rIns="0" bIns="0" rtlCol="0" anchor="t"/>
          <a:lstStyle/>
          <a:p>
            <a:pPr indent="0" marL="0">
              <a:buNone/>
            </a:pPr>
            <a:r>
              <a:rPr lang="en-US" sz="1200" b="1" dirty="0">
                <a:solidFill>
                  <a:schemeClr val="accent2"/>
                </a:solidFill>
              </a:rPr>
              <a:t>AWS ap-south-1 · VPC 10.20.0.0/16 · built by Terraform</a:t>
            </a:r>
            <a:endParaRPr lang="en-US" sz="1200" dirty="0"/>
          </a:p>
        </p:txBody>
      </p:sp>
      <p:sp>
        <p:nvSpPr>
          <p:cNvPr id="16" name="eks-frame"/>
          <p:cNvSpPr/>
          <p:nvPr/>
        </p:nvSpPr>
        <p:spPr>
          <a:xfrm>
            <a:off x="4434840" y="1783080"/>
            <a:ext cx="6995160" cy="4251960"/>
          </a:xfrm>
          <a:prstGeom prst="roundRect">
            <a:avLst>
              <a:gd name="adj" fmla="val 1720"/>
            </a:avLst>
          </a:prstGeom>
          <a:solidFill>
            <a:schemeClr val="bg1"/>
          </a:solidFill>
          <a:ln w="12700">
            <a:solidFill>
              <a:schemeClr val="accent1"/>
            </a:solidFill>
            <a:prstDash val="solid"/>
          </a:ln>
        </p:spPr>
      </p:sp>
      <p:sp>
        <p:nvSpPr>
          <p:cNvPr id="17" name="Text 15"/>
          <p:cNvSpPr txBox="1"/>
          <p:nvPr/>
        </p:nvSpPr>
        <p:spPr>
          <a:xfrm>
            <a:off x="4617720" y="1874520"/>
            <a:ext cx="6583680" cy="274320"/>
          </a:xfrm>
          <a:prstGeom prst="rect">
            <a:avLst/>
          </a:prstGeom>
          <a:noFill/>
          <a:ln/>
        </p:spPr>
        <p:txBody>
          <a:bodyPr wrap="square" lIns="0" tIns="0" rIns="0" bIns="0" rtlCol="0" anchor="t"/>
          <a:lstStyle/>
          <a:p>
            <a:pPr indent="0" marL="0">
              <a:buNone/>
            </a:pPr>
            <a:r>
              <a:rPr lang="en-US" sz="1200" b="1" dirty="0">
                <a:solidFill>
                  <a:schemeClr val="accent1"/>
                </a:solidFill>
              </a:rPr>
              <a:t>EKS cluster · 2 × t3.medium in private subnets</a:t>
            </a:r>
            <a:endParaRPr lang="en-US" sz="1200" dirty="0"/>
          </a:p>
        </p:txBody>
      </p:sp>
      <p:sp>
        <p:nvSpPr>
          <p:cNvPr id="18" name="Shape 16"/>
          <p:cNvSpPr/>
          <p:nvPr/>
        </p:nvSpPr>
        <p:spPr>
          <a:xfrm>
            <a:off x="4709160" y="2286000"/>
            <a:ext cx="1874520" cy="777240"/>
          </a:xfrm>
          <a:prstGeom prst="roundRect">
            <a:avLst>
              <a:gd name="adj" fmla="val 9412"/>
            </a:avLst>
          </a:prstGeom>
          <a:solidFill>
            <a:schemeClr val="bg1"/>
          </a:solidFill>
          <a:ln w="12700">
            <a:solidFill>
              <a:schemeClr val="accent4"/>
            </a:solidFill>
            <a:prstDash val="solid"/>
          </a:ln>
        </p:spPr>
      </p:sp>
      <p:sp>
        <p:nvSpPr>
          <p:cNvPr id="19" name="Text 17"/>
          <p:cNvSpPr txBox="1"/>
          <p:nvPr/>
        </p:nvSpPr>
        <p:spPr>
          <a:xfrm>
            <a:off x="4709160" y="2286000"/>
            <a:ext cx="1874520" cy="777240"/>
          </a:xfrm>
          <a:prstGeom prst="rect">
            <a:avLst/>
          </a:prstGeom>
          <a:noFill/>
          <a:ln/>
        </p:spPr>
        <p:txBody>
          <a:bodyPr wrap="square" lIns="508" tIns="508" rIns="508" bIns="508" rtlCol="0" anchor="ctr"/>
          <a:lstStyle/>
          <a:p>
            <a:pPr algn="ctr" indent="0" marL="0">
              <a:buNone/>
            </a:pPr>
            <a:r>
              <a:rPr lang="en-US" sz="1300" b="1" dirty="0">
                <a:solidFill>
                  <a:schemeClr val="tx1"/>
                </a:solidFill>
              </a:rPr>
              <a:t>Traefik Ingress</a:t>
            </a:r>
            <a:endParaRPr lang="en-US" sz="1300" dirty="0"/>
          </a:p>
          <a:p>
            <a:pPr algn="ctr" indent="0" marL="0">
              <a:buNone/>
            </a:pPr>
            <a:r>
              <a:rPr lang="en-US" sz="1100" dirty="0">
                <a:solidFill>
                  <a:schemeClr val="accent4"/>
                </a:solidFill>
              </a:rPr>
              <a:t>AWS NLB · /  and  /api</a:t>
            </a:r>
            <a:endParaRPr lang="en-US" sz="1300" dirty="0"/>
          </a:p>
        </p:txBody>
      </p:sp>
      <p:sp>
        <p:nvSpPr>
          <p:cNvPr id="20" name="Shape 18"/>
          <p:cNvSpPr/>
          <p:nvPr/>
        </p:nvSpPr>
        <p:spPr>
          <a:xfrm>
            <a:off x="7040880" y="2286000"/>
            <a:ext cx="1874520" cy="777240"/>
          </a:xfrm>
          <a:prstGeom prst="roundRect">
            <a:avLst>
              <a:gd name="adj" fmla="val 9412"/>
            </a:avLst>
          </a:prstGeom>
          <a:solidFill>
            <a:schemeClr val="bg1"/>
          </a:solidFill>
          <a:ln w="12700">
            <a:solidFill>
              <a:schemeClr val="accent4"/>
            </a:solidFill>
            <a:prstDash val="dash"/>
          </a:ln>
        </p:spPr>
      </p:sp>
      <p:sp>
        <p:nvSpPr>
          <p:cNvPr id="21" name="Text 19"/>
          <p:cNvSpPr txBox="1"/>
          <p:nvPr/>
        </p:nvSpPr>
        <p:spPr>
          <a:xfrm>
            <a:off x="7040880" y="2286000"/>
            <a:ext cx="1874520" cy="777240"/>
          </a:xfrm>
          <a:prstGeom prst="rect">
            <a:avLst/>
          </a:prstGeom>
          <a:noFill/>
          <a:ln/>
        </p:spPr>
        <p:txBody>
          <a:bodyPr wrap="square" lIns="508" tIns="508" rIns="508" bIns="508" rtlCol="0" anchor="ctr"/>
          <a:lstStyle/>
          <a:p>
            <a:pPr algn="ctr" indent="0" marL="0">
              <a:buNone/>
            </a:pPr>
            <a:r>
              <a:rPr lang="en-US" sz="1300" b="1" dirty="0">
                <a:solidFill>
                  <a:schemeClr val="tx1"/>
                </a:solidFill>
              </a:rPr>
              <a:t>Helm release</a:t>
            </a:r>
            <a:endParaRPr lang="en-US" sz="1300" dirty="0"/>
          </a:p>
          <a:p>
            <a:pPr algn="ctr" indent="0" marL="0">
              <a:buNone/>
            </a:pPr>
            <a:r>
              <a:rPr lang="en-US" sz="1100" dirty="0">
                <a:solidFill>
                  <a:schemeClr val="accent4"/>
                </a:solidFill>
              </a:rPr>
              <a:t>stockpilot namespace</a:t>
            </a:r>
            <a:endParaRPr lang="en-US" sz="1300" dirty="0"/>
          </a:p>
        </p:txBody>
      </p:sp>
      <p:sp>
        <p:nvSpPr>
          <p:cNvPr id="22" name="Shape 20"/>
          <p:cNvSpPr/>
          <p:nvPr/>
        </p:nvSpPr>
        <p:spPr>
          <a:xfrm>
            <a:off x="9372600" y="2286000"/>
            <a:ext cx="1874520" cy="777240"/>
          </a:xfrm>
          <a:prstGeom prst="roundRect">
            <a:avLst>
              <a:gd name="adj" fmla="val 9412"/>
            </a:avLst>
          </a:prstGeom>
          <a:solidFill>
            <a:schemeClr val="bg2"/>
          </a:solidFill>
          <a:ln w="12700">
            <a:solidFill>
              <a:schemeClr val="accent4"/>
            </a:solidFill>
            <a:prstDash val="solid"/>
          </a:ln>
        </p:spPr>
      </p:sp>
      <p:sp>
        <p:nvSpPr>
          <p:cNvPr id="23" name="Text 21"/>
          <p:cNvSpPr txBox="1"/>
          <p:nvPr/>
        </p:nvSpPr>
        <p:spPr>
          <a:xfrm>
            <a:off x="9372600" y="2286000"/>
            <a:ext cx="1874520" cy="777240"/>
          </a:xfrm>
          <a:prstGeom prst="rect">
            <a:avLst/>
          </a:prstGeom>
          <a:noFill/>
          <a:ln/>
        </p:spPr>
        <p:txBody>
          <a:bodyPr wrap="square" lIns="508" tIns="508" rIns="508" bIns="508" rtlCol="0" anchor="ctr"/>
          <a:lstStyle/>
          <a:p>
            <a:pPr algn="ctr" indent="0" marL="0">
              <a:buNone/>
            </a:pPr>
            <a:r>
              <a:rPr lang="en-US" sz="1300" b="1" dirty="0">
                <a:solidFill>
                  <a:schemeClr val="tx1"/>
                </a:solidFill>
              </a:rPr>
              <a:t>Argo CD</a:t>
            </a:r>
            <a:endParaRPr lang="en-US" sz="1300" dirty="0"/>
          </a:p>
          <a:p>
            <a:pPr algn="ctr" indent="0" marL="0">
              <a:buNone/>
            </a:pPr>
            <a:r>
              <a:rPr lang="en-US" sz="1100" dirty="0">
                <a:solidFill>
                  <a:schemeClr val="accent4"/>
                </a:solidFill>
              </a:rPr>
              <a:t>auto-sync · self-heal</a:t>
            </a:r>
            <a:endParaRPr lang="en-US" sz="1300" dirty="0"/>
          </a:p>
        </p:txBody>
      </p:sp>
      <p:sp>
        <p:nvSpPr>
          <p:cNvPr id="24" name="Shape 22"/>
          <p:cNvSpPr/>
          <p:nvPr/>
        </p:nvSpPr>
        <p:spPr>
          <a:xfrm>
            <a:off x="4709160" y="3520440"/>
            <a:ext cx="1874520" cy="777240"/>
          </a:xfrm>
          <a:prstGeom prst="roundRect">
            <a:avLst>
              <a:gd name="adj" fmla="val 9412"/>
            </a:avLst>
          </a:prstGeom>
          <a:solidFill>
            <a:schemeClr val="bg1"/>
          </a:solidFill>
          <a:ln w="12700">
            <a:solidFill>
              <a:schemeClr val="accent4"/>
            </a:solidFill>
            <a:prstDash val="solid"/>
          </a:ln>
        </p:spPr>
      </p:sp>
      <p:sp>
        <p:nvSpPr>
          <p:cNvPr id="25" name="Text 23"/>
          <p:cNvSpPr txBox="1"/>
          <p:nvPr/>
        </p:nvSpPr>
        <p:spPr>
          <a:xfrm>
            <a:off x="4709160" y="3520440"/>
            <a:ext cx="1874520" cy="777240"/>
          </a:xfrm>
          <a:prstGeom prst="rect">
            <a:avLst/>
          </a:prstGeom>
          <a:noFill/>
          <a:ln/>
        </p:spPr>
        <p:txBody>
          <a:bodyPr wrap="square" lIns="508" tIns="508" rIns="508" bIns="508" rtlCol="0" anchor="ctr"/>
          <a:lstStyle/>
          <a:p>
            <a:pPr algn="ctr" indent="0" marL="0">
              <a:buNone/>
            </a:pPr>
            <a:r>
              <a:rPr lang="en-US" sz="1300" b="1" dirty="0">
                <a:solidFill>
                  <a:schemeClr val="tx1"/>
                </a:solidFill>
              </a:rPr>
              <a:t>Frontend × 2</a:t>
            </a:r>
            <a:endParaRPr lang="en-US" sz="1300" dirty="0"/>
          </a:p>
          <a:p>
            <a:pPr algn="ctr" indent="0" marL="0">
              <a:buNone/>
            </a:pPr>
            <a:r>
              <a:rPr lang="en-US" sz="1100" dirty="0">
                <a:solidFill>
                  <a:schemeClr val="accent4"/>
                </a:solidFill>
              </a:rPr>
              <a:t>React + Nginx</a:t>
            </a:r>
            <a:endParaRPr lang="en-US" sz="1300" dirty="0"/>
          </a:p>
        </p:txBody>
      </p:sp>
      <p:sp>
        <p:nvSpPr>
          <p:cNvPr id="26" name="Shape 24"/>
          <p:cNvSpPr/>
          <p:nvPr/>
        </p:nvSpPr>
        <p:spPr>
          <a:xfrm>
            <a:off x="7040880" y="3520440"/>
            <a:ext cx="1874520" cy="777240"/>
          </a:xfrm>
          <a:prstGeom prst="roundRect">
            <a:avLst>
              <a:gd name="adj" fmla="val 9412"/>
            </a:avLst>
          </a:prstGeom>
          <a:solidFill>
            <a:schemeClr val="bg1"/>
          </a:solidFill>
          <a:ln w="12700">
            <a:solidFill>
              <a:schemeClr val="accent4"/>
            </a:solidFill>
            <a:prstDash val="solid"/>
          </a:ln>
        </p:spPr>
      </p:sp>
      <p:sp>
        <p:nvSpPr>
          <p:cNvPr id="27" name="Text 25"/>
          <p:cNvSpPr txBox="1"/>
          <p:nvPr/>
        </p:nvSpPr>
        <p:spPr>
          <a:xfrm>
            <a:off x="7040880" y="3520440"/>
            <a:ext cx="1874520" cy="777240"/>
          </a:xfrm>
          <a:prstGeom prst="rect">
            <a:avLst/>
          </a:prstGeom>
          <a:noFill/>
          <a:ln/>
        </p:spPr>
        <p:txBody>
          <a:bodyPr wrap="square" lIns="508" tIns="508" rIns="508" bIns="508" rtlCol="0" anchor="ctr"/>
          <a:lstStyle/>
          <a:p>
            <a:pPr algn="ctr" indent="0" marL="0">
              <a:buNone/>
            </a:pPr>
            <a:r>
              <a:rPr lang="en-US" sz="1300" b="1" dirty="0">
                <a:solidFill>
                  <a:schemeClr val="tx1"/>
                </a:solidFill>
              </a:rPr>
              <a:t>Backend × 2–6</a:t>
            </a:r>
            <a:endParaRPr lang="en-US" sz="1300" dirty="0"/>
          </a:p>
          <a:p>
            <a:pPr algn="ctr" indent="0" marL="0">
              <a:buNone/>
            </a:pPr>
            <a:r>
              <a:rPr lang="en-US" sz="1100" dirty="0">
                <a:solidFill>
                  <a:schemeClr val="accent4"/>
                </a:solidFill>
              </a:rPr>
              <a:t>FastAPI · HPA on CPU</a:t>
            </a:r>
            <a:endParaRPr lang="en-US" sz="1300" dirty="0"/>
          </a:p>
        </p:txBody>
      </p:sp>
      <p:sp>
        <p:nvSpPr>
          <p:cNvPr id="28" name="Shape 26"/>
          <p:cNvSpPr/>
          <p:nvPr/>
        </p:nvSpPr>
        <p:spPr>
          <a:xfrm>
            <a:off x="9372600" y="3520440"/>
            <a:ext cx="1874520" cy="777240"/>
          </a:xfrm>
          <a:prstGeom prst="roundRect">
            <a:avLst>
              <a:gd name="adj" fmla="val 9412"/>
            </a:avLst>
          </a:prstGeom>
          <a:solidFill>
            <a:schemeClr val="bg2"/>
          </a:solidFill>
          <a:ln w="12700">
            <a:solidFill>
              <a:schemeClr val="accent4"/>
            </a:solidFill>
            <a:prstDash val="solid"/>
          </a:ln>
        </p:spPr>
      </p:sp>
      <p:sp>
        <p:nvSpPr>
          <p:cNvPr id="29" name="Text 27"/>
          <p:cNvSpPr txBox="1"/>
          <p:nvPr/>
        </p:nvSpPr>
        <p:spPr>
          <a:xfrm>
            <a:off x="9372600" y="3520440"/>
            <a:ext cx="1874520" cy="777240"/>
          </a:xfrm>
          <a:prstGeom prst="rect">
            <a:avLst/>
          </a:prstGeom>
          <a:noFill/>
          <a:ln/>
        </p:spPr>
        <p:txBody>
          <a:bodyPr wrap="square" lIns="508" tIns="508" rIns="508" bIns="508" rtlCol="0" anchor="ctr"/>
          <a:lstStyle/>
          <a:p>
            <a:pPr algn="ctr" indent="0" marL="0">
              <a:buNone/>
            </a:pPr>
            <a:r>
              <a:rPr lang="en-US" sz="1300" b="1" dirty="0">
                <a:solidFill>
                  <a:schemeClr val="tx1"/>
                </a:solidFill>
              </a:rPr>
              <a:t>Prometheus</a:t>
            </a:r>
            <a:endParaRPr lang="en-US" sz="1300" dirty="0"/>
          </a:p>
          <a:p>
            <a:pPr algn="ctr" indent="0" marL="0">
              <a:buNone/>
            </a:pPr>
            <a:r>
              <a:rPr lang="en-US" sz="1100" dirty="0">
                <a:solidFill>
                  <a:schemeClr val="accent4"/>
                </a:solidFill>
              </a:rPr>
              <a:t>scrapes /metrics</a:t>
            </a:r>
            <a:endParaRPr lang="en-US" sz="1300" dirty="0"/>
          </a:p>
        </p:txBody>
      </p:sp>
      <p:sp>
        <p:nvSpPr>
          <p:cNvPr id="30" name="Shape 28"/>
          <p:cNvSpPr/>
          <p:nvPr/>
        </p:nvSpPr>
        <p:spPr>
          <a:xfrm>
            <a:off x="7040880" y="4800600"/>
            <a:ext cx="1874520" cy="777240"/>
          </a:xfrm>
          <a:prstGeom prst="roundRect">
            <a:avLst>
              <a:gd name="adj" fmla="val 9412"/>
            </a:avLst>
          </a:prstGeom>
          <a:solidFill>
            <a:schemeClr val="bg1"/>
          </a:solidFill>
          <a:ln w="12700">
            <a:solidFill>
              <a:schemeClr val="accent4"/>
            </a:solidFill>
            <a:prstDash val="solid"/>
          </a:ln>
        </p:spPr>
      </p:sp>
      <p:sp>
        <p:nvSpPr>
          <p:cNvPr id="31" name="Text 29"/>
          <p:cNvSpPr txBox="1"/>
          <p:nvPr/>
        </p:nvSpPr>
        <p:spPr>
          <a:xfrm>
            <a:off x="7040880" y="4800600"/>
            <a:ext cx="1874520" cy="777240"/>
          </a:xfrm>
          <a:prstGeom prst="rect">
            <a:avLst/>
          </a:prstGeom>
          <a:noFill/>
          <a:ln/>
        </p:spPr>
        <p:txBody>
          <a:bodyPr wrap="square" lIns="508" tIns="508" rIns="508" bIns="508" rtlCol="0" anchor="ctr"/>
          <a:lstStyle/>
          <a:p>
            <a:pPr algn="ctr" indent="0" marL="0">
              <a:buNone/>
            </a:pPr>
            <a:r>
              <a:rPr lang="en-US" sz="1300" b="1" dirty="0">
                <a:solidFill>
                  <a:schemeClr val="tx1"/>
                </a:solidFill>
              </a:rPr>
              <a:t>PostgreSQL</a:t>
            </a:r>
            <a:endParaRPr lang="en-US" sz="1300" dirty="0"/>
          </a:p>
          <a:p>
            <a:pPr algn="ctr" indent="0" marL="0">
              <a:buNone/>
            </a:pPr>
            <a:r>
              <a:rPr lang="en-US" sz="1100" dirty="0">
                <a:solidFill>
                  <a:schemeClr val="accent4"/>
                </a:solidFill>
              </a:rPr>
              <a:t>StatefulSet · EBS gp3</a:t>
            </a:r>
            <a:endParaRPr lang="en-US" sz="1300" dirty="0"/>
          </a:p>
        </p:txBody>
      </p:sp>
      <p:sp>
        <p:nvSpPr>
          <p:cNvPr id="32" name="Shape 30"/>
          <p:cNvSpPr/>
          <p:nvPr/>
        </p:nvSpPr>
        <p:spPr>
          <a:xfrm>
            <a:off x="9372600" y="4800600"/>
            <a:ext cx="1874520" cy="777240"/>
          </a:xfrm>
          <a:prstGeom prst="roundRect">
            <a:avLst>
              <a:gd name="adj" fmla="val 9412"/>
            </a:avLst>
          </a:prstGeom>
          <a:solidFill>
            <a:schemeClr val="bg2"/>
          </a:solidFill>
          <a:ln w="12700">
            <a:solidFill>
              <a:schemeClr val="accent4"/>
            </a:solidFill>
            <a:prstDash val="solid"/>
          </a:ln>
        </p:spPr>
      </p:sp>
      <p:sp>
        <p:nvSpPr>
          <p:cNvPr id="33" name="Text 31"/>
          <p:cNvSpPr txBox="1"/>
          <p:nvPr/>
        </p:nvSpPr>
        <p:spPr>
          <a:xfrm>
            <a:off x="9372600" y="4800600"/>
            <a:ext cx="1874520" cy="777240"/>
          </a:xfrm>
          <a:prstGeom prst="rect">
            <a:avLst/>
          </a:prstGeom>
          <a:noFill/>
          <a:ln/>
        </p:spPr>
        <p:txBody>
          <a:bodyPr wrap="square" lIns="508" tIns="508" rIns="508" bIns="508" rtlCol="0" anchor="ctr"/>
          <a:lstStyle/>
          <a:p>
            <a:pPr algn="ctr" indent="0" marL="0">
              <a:buNone/>
            </a:pPr>
            <a:r>
              <a:rPr lang="en-US" sz="1300" b="1" dirty="0">
                <a:solidFill>
                  <a:schemeClr val="tx1"/>
                </a:solidFill>
              </a:rPr>
              <a:t>Grafana</a:t>
            </a:r>
            <a:endParaRPr lang="en-US" sz="1300" dirty="0"/>
          </a:p>
          <a:p>
            <a:pPr algn="ctr" indent="0" marL="0">
              <a:buNone/>
            </a:pPr>
            <a:r>
              <a:rPr lang="en-US" sz="1100" dirty="0">
                <a:solidFill>
                  <a:schemeClr val="accent4"/>
                </a:solidFill>
              </a:rPr>
              <a:t>StockPilot dashboard</a:t>
            </a:r>
            <a:endParaRPr lang="en-US" sz="1300" dirty="0"/>
          </a:p>
        </p:txBody>
      </p:sp>
      <p:sp>
        <p:nvSpPr>
          <p:cNvPr id="34" name="Shape 32"/>
          <p:cNvSpPr/>
          <p:nvPr/>
        </p:nvSpPr>
        <p:spPr>
          <a:xfrm>
            <a:off x="4709160" y="4800600"/>
            <a:ext cx="1874520" cy="777240"/>
          </a:xfrm>
          <a:prstGeom prst="roundRect">
            <a:avLst>
              <a:gd name="adj" fmla="val 9412"/>
            </a:avLst>
          </a:prstGeom>
          <a:solidFill>
            <a:schemeClr val="bg2"/>
          </a:solidFill>
          <a:ln w="12700">
            <a:solidFill>
              <a:schemeClr val="accent4"/>
            </a:solidFill>
            <a:prstDash val="solid"/>
          </a:ln>
        </p:spPr>
      </p:sp>
      <p:sp>
        <p:nvSpPr>
          <p:cNvPr id="35" name="Text 33"/>
          <p:cNvSpPr txBox="1"/>
          <p:nvPr/>
        </p:nvSpPr>
        <p:spPr>
          <a:xfrm>
            <a:off x="4709160" y="4800600"/>
            <a:ext cx="1874520" cy="777240"/>
          </a:xfrm>
          <a:prstGeom prst="rect">
            <a:avLst/>
          </a:prstGeom>
          <a:noFill/>
          <a:ln/>
        </p:spPr>
        <p:txBody>
          <a:bodyPr wrap="square" lIns="508" tIns="508" rIns="508" bIns="508" rtlCol="0" anchor="ctr"/>
          <a:lstStyle/>
          <a:p>
            <a:pPr algn="ctr" indent="0" marL="0">
              <a:buNone/>
            </a:pPr>
            <a:r>
              <a:rPr lang="en-US" sz="1300" b="1" dirty="0">
                <a:solidFill>
                  <a:schemeClr val="tx1"/>
                </a:solidFill>
              </a:rPr>
              <a:t>metrics-server</a:t>
            </a:r>
            <a:endParaRPr lang="en-US" sz="1300" dirty="0"/>
          </a:p>
          <a:p>
            <a:pPr algn="ctr" indent="0" marL="0">
              <a:buNone/>
            </a:pPr>
            <a:r>
              <a:rPr lang="en-US" sz="1100" dirty="0">
                <a:solidFill>
                  <a:schemeClr val="accent4"/>
                </a:solidFill>
              </a:rPr>
              <a:t>feeds the HPA</a:t>
            </a:r>
            <a:endParaRPr lang="en-US" sz="1300" dirty="0"/>
          </a:p>
        </p:txBody>
      </p:sp>
      <p:sp>
        <p:nvSpPr>
          <p:cNvPr id="36" name="Shape 34"/>
          <p:cNvSpPr/>
          <p:nvPr/>
        </p:nvSpPr>
        <p:spPr>
          <a:xfrm>
            <a:off x="5646420" y="3063240"/>
            <a:ext cx="914" cy="457200"/>
          </a:xfrm>
          <a:prstGeom prst="line">
            <a:avLst/>
          </a:prstGeom>
          <a:noFill/>
          <a:ln w="19050">
            <a:solidFill>
              <a:schemeClr val="accent4"/>
            </a:solidFill>
            <a:prstDash val="solid"/>
            <a:tailEnd type="triangle"/>
          </a:ln>
        </p:spPr>
      </p:sp>
      <p:sp>
        <p:nvSpPr>
          <p:cNvPr id="37" name="Shape 35"/>
          <p:cNvSpPr/>
          <p:nvPr/>
        </p:nvSpPr>
        <p:spPr>
          <a:xfrm>
            <a:off x="6583680" y="2868930"/>
            <a:ext cx="777240" cy="651510"/>
          </a:xfrm>
          <a:prstGeom prst="line">
            <a:avLst/>
          </a:prstGeom>
          <a:noFill/>
          <a:ln w="19050">
            <a:solidFill>
              <a:schemeClr val="accent4"/>
            </a:solidFill>
            <a:prstDash val="solid"/>
            <a:tailEnd type="triangle"/>
          </a:ln>
        </p:spPr>
      </p:sp>
      <p:sp>
        <p:nvSpPr>
          <p:cNvPr id="38" name="Shape 36"/>
          <p:cNvSpPr/>
          <p:nvPr/>
        </p:nvSpPr>
        <p:spPr>
          <a:xfrm flipH="1">
            <a:off x="8915400" y="2674620"/>
            <a:ext cx="457200" cy="914"/>
          </a:xfrm>
          <a:prstGeom prst="line">
            <a:avLst/>
          </a:prstGeom>
          <a:noFill/>
          <a:ln w="19050">
            <a:solidFill>
              <a:schemeClr val="accent1"/>
            </a:solidFill>
            <a:prstDash val="solid"/>
            <a:tailEnd type="triangle"/>
          </a:ln>
        </p:spPr>
      </p:sp>
      <p:sp>
        <p:nvSpPr>
          <p:cNvPr id="39" name="Shape 37"/>
          <p:cNvSpPr/>
          <p:nvPr/>
        </p:nvSpPr>
        <p:spPr>
          <a:xfrm>
            <a:off x="7978140" y="4297680"/>
            <a:ext cx="914" cy="502920"/>
          </a:xfrm>
          <a:prstGeom prst="line">
            <a:avLst/>
          </a:prstGeom>
          <a:noFill/>
          <a:ln w="19050">
            <a:solidFill>
              <a:schemeClr val="accent4"/>
            </a:solidFill>
            <a:prstDash val="solid"/>
            <a:tailEnd type="triangle"/>
          </a:ln>
        </p:spPr>
      </p:sp>
      <p:sp>
        <p:nvSpPr>
          <p:cNvPr id="40" name="Shape 38"/>
          <p:cNvSpPr/>
          <p:nvPr/>
        </p:nvSpPr>
        <p:spPr>
          <a:xfrm flipH="1">
            <a:off x="8915400" y="3909060"/>
            <a:ext cx="457200" cy="914"/>
          </a:xfrm>
          <a:prstGeom prst="line">
            <a:avLst/>
          </a:prstGeom>
          <a:noFill/>
          <a:ln w="19050">
            <a:solidFill>
              <a:schemeClr val="accent1"/>
            </a:solidFill>
            <a:prstDash val="solid"/>
            <a:tailEnd type="triangle"/>
          </a:ln>
        </p:spPr>
      </p:sp>
      <p:sp>
        <p:nvSpPr>
          <p:cNvPr id="41" name="Shape 39"/>
          <p:cNvSpPr/>
          <p:nvPr/>
        </p:nvSpPr>
        <p:spPr>
          <a:xfrm flipV="1">
            <a:off x="10309860" y="4297680"/>
            <a:ext cx="914" cy="502920"/>
          </a:xfrm>
          <a:prstGeom prst="line">
            <a:avLst/>
          </a:prstGeom>
          <a:noFill/>
          <a:ln w="19050">
            <a:solidFill>
              <a:schemeClr val="accent1"/>
            </a:solidFill>
            <a:prstDash val="solid"/>
            <a:tailEnd type="triangle"/>
          </a:ln>
        </p:spPr>
      </p:sp>
      <p:sp>
        <p:nvSpPr>
          <p:cNvPr id="42" name="Shape 40"/>
          <p:cNvSpPr/>
          <p:nvPr/>
        </p:nvSpPr>
        <p:spPr>
          <a:xfrm>
            <a:off x="3291840" y="2834640"/>
            <a:ext cx="1143000" cy="914"/>
          </a:xfrm>
          <a:prstGeom prst="line">
            <a:avLst/>
          </a:prstGeom>
          <a:noFill/>
          <a:ln w="19050">
            <a:solidFill>
              <a:schemeClr val="accent1"/>
            </a:solidFill>
            <a:prstDash val="dash"/>
            <a:tailEnd type="triangle"/>
          </a:ln>
        </p:spPr>
      </p:sp>
      <p:sp>
        <p:nvSpPr>
          <p:cNvPr id="43" name="Text 41"/>
          <p:cNvSpPr txBox="1"/>
          <p:nvPr/>
        </p:nvSpPr>
        <p:spPr>
          <a:xfrm>
            <a:off x="3383280" y="2331720"/>
            <a:ext cx="960120" cy="457200"/>
          </a:xfrm>
          <a:prstGeom prst="rect">
            <a:avLst/>
          </a:prstGeom>
          <a:noFill/>
          <a:ln/>
        </p:spPr>
        <p:txBody>
          <a:bodyPr wrap="square" lIns="0" tIns="0" rIns="0" bIns="0" rtlCol="0" anchor="t"/>
          <a:lstStyle/>
          <a:p>
            <a:pPr algn="ctr" indent="0" marL="0">
              <a:buNone/>
            </a:pPr>
            <a:r>
              <a:rPr lang="en-US" sz="1000" dirty="0">
                <a:solidFill>
                  <a:schemeClr val="accent1"/>
                </a:solidFill>
              </a:rPr>
              <a:t>Argo CD</a:t>
            </a:r>
            <a:endParaRPr lang="en-US" sz="1000" dirty="0"/>
          </a:p>
          <a:p>
            <a:pPr algn="ctr" indent="0" marL="0">
              <a:buNone/>
            </a:pPr>
            <a:r>
              <a:rPr lang="en-US" sz="1000" dirty="0">
                <a:solidFill>
                  <a:schemeClr val="accent1"/>
                </a:solidFill>
              </a:rPr>
              <a:t>pulls Git</a:t>
            </a:r>
            <a:endParaRPr lang="en-US" sz="1000" dirty="0"/>
          </a:p>
        </p:txBody>
      </p:sp>
      <p:sp>
        <p:nvSpPr>
          <p:cNvPr id="44" name="Shape 42"/>
          <p:cNvSpPr/>
          <p:nvPr/>
        </p:nvSpPr>
        <p:spPr>
          <a:xfrm>
            <a:off x="3291840" y="5349240"/>
            <a:ext cx="1143000" cy="914"/>
          </a:xfrm>
          <a:prstGeom prst="line">
            <a:avLst/>
          </a:prstGeom>
          <a:noFill/>
          <a:ln w="19050">
            <a:solidFill>
              <a:schemeClr val="accent4"/>
            </a:solidFill>
            <a:prstDash val="dash"/>
            <a:tailEnd type="triangle"/>
          </a:ln>
        </p:spPr>
      </p:sp>
      <p:sp>
        <p:nvSpPr>
          <p:cNvPr id="45" name="Text 43"/>
          <p:cNvSpPr txBox="1"/>
          <p:nvPr/>
        </p:nvSpPr>
        <p:spPr>
          <a:xfrm>
            <a:off x="3383280" y="4846320"/>
            <a:ext cx="960120" cy="457200"/>
          </a:xfrm>
          <a:prstGeom prst="rect">
            <a:avLst/>
          </a:prstGeom>
          <a:noFill/>
          <a:ln/>
        </p:spPr>
        <p:txBody>
          <a:bodyPr wrap="square" lIns="0" tIns="0" rIns="0" bIns="0" rtlCol="0" anchor="t"/>
          <a:lstStyle/>
          <a:p>
            <a:pPr algn="ctr" indent="0" marL="0">
              <a:buNone/>
            </a:pPr>
            <a:r>
              <a:rPr lang="en-US" sz="1000" dirty="0">
                <a:solidFill>
                  <a:schemeClr val="accent4"/>
                </a:solidFill>
              </a:rPr>
              <a:t>image</a:t>
            </a:r>
            <a:endParaRPr lang="en-US" sz="1000" dirty="0"/>
          </a:p>
          <a:p>
            <a:pPr algn="ctr" indent="0" marL="0">
              <a:buNone/>
            </a:pPr>
            <a:r>
              <a:rPr lang="en-US" sz="1000" dirty="0">
                <a:solidFill>
                  <a:schemeClr val="accent4"/>
                </a:solidFill>
              </a:rPr>
              <a:t>pull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Application layer: REST API, database and tests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868680"/>
                <a:gridCol w="2880360"/>
                <a:gridCol w="3200400"/>
              </a:tblGrid>
              <a:tr h="384048">
                <a:tc>
                  <a:txBody>
                    <a:bodyPr/>
                    <a:lstStyle/>
                    <a:p>
                      <a:pPr indent="0" marL="0">
                        <a:buNone/>
                      </a:pPr>
                      <a:r>
                        <a:rPr lang="en-US" sz="1300" b="1" dirty="0">
                          <a:solidFill>
                            <a:srgbClr val="FFFFFF"/>
                          </a:solidFill>
                        </a:rPr>
                        <a:t>Method</a:t>
                      </a:r>
                      <a:endParaRPr lang="en-US" sz="1300" dirty="0"/>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2A"/>
                    </a:solidFill>
                  </a:tcPr>
                </a:tc>
                <a:tc>
                  <a:txBody>
                    <a:bodyPr/>
                    <a:lstStyle/>
                    <a:p>
                      <a:pPr indent="0" marL="0">
                        <a:buNone/>
                      </a:pPr>
                      <a:r>
                        <a:rPr lang="en-US" sz="1300" b="1" dirty="0">
                          <a:solidFill>
                            <a:srgbClr val="FFFFFF"/>
                          </a:solidFill>
                        </a:rPr>
                        <a:t>Path</a:t>
                      </a:r>
                      <a:endParaRPr lang="en-US" sz="1300" dirty="0"/>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2A"/>
                    </a:solidFill>
                  </a:tcPr>
                </a:tc>
                <a:tc>
                  <a:txBody>
                    <a:bodyPr/>
                    <a:lstStyle/>
                    <a:p>
                      <a:pPr indent="0" marL="0">
                        <a:buNone/>
                      </a:pPr>
                      <a:r>
                        <a:rPr lang="en-US" sz="1300" b="1" dirty="0">
                          <a:solidFill>
                            <a:srgbClr val="FFFFFF"/>
                          </a:solidFill>
                        </a:rPr>
                        <a:t>Purpose</a:t>
                      </a:r>
                      <a:endParaRPr lang="en-US" sz="1300" dirty="0"/>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2A"/>
                    </a:solidFill>
                  </a:tcPr>
                </a:tc>
              </a:tr>
              <a:tr h="384048">
                <a:tc>
                  <a:txBody>
                    <a:bodyPr/>
                    <a:lstStyle/>
                    <a:p>
                      <a:pPr indent="0" marL="0">
                        <a:buNone/>
                      </a:pPr>
                      <a:r>
                        <a:rPr lang="en-US" sz="1200" b="1" dirty="0">
                          <a:solidFill>
                            <a:srgbClr val="0F766E"/>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B2A"/>
                          </a:solidFill>
                          <a:latin typeface="Courier New" pitchFamily="34" charset="0"/>
                          <a:ea typeface="Courier New" pitchFamily="34" charset="-122"/>
                          <a:cs typeface="Courier New" pitchFamily="34" charset="-120"/>
                        </a:rPr>
                        <a:t>/health · /ready</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Liveness · readiness (DB check)</a:t>
                      </a:r>
                      <a:endParaRPr lang="en-US" sz="1200" dirty="0"/>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0F766E"/>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B2A"/>
                          </a:solidFill>
                          <a:latin typeface="Courier New" pitchFamily="34" charset="0"/>
                          <a:ea typeface="Courier New" pitchFamily="34" charset="-122"/>
                          <a:cs typeface="Courier New" pitchFamily="34" charset="-120"/>
                        </a:rPr>
                        <a:t>/metrics</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Prometheus metrics</a:t>
                      </a:r>
                      <a:endParaRPr lang="en-US" sz="1200" dirty="0"/>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0F766E"/>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B2A"/>
                          </a:solidFill>
                          <a:latin typeface="Courier New" pitchFamily="34" charset="0"/>
                          <a:ea typeface="Courier New" pitchFamily="34" charset="-122"/>
                          <a:cs typeface="Courier New" pitchFamily="34" charset="-120"/>
                        </a:rPr>
                        <a:t>/api/products</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List, search, filter by status</a:t>
                      </a:r>
                      <a:endParaRPr lang="en-US" sz="1200" dirty="0"/>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0F766E"/>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B2A"/>
                          </a:solidFill>
                          <a:latin typeface="Courier New" pitchFamily="34" charset="0"/>
                          <a:ea typeface="Courier New" pitchFamily="34" charset="-122"/>
                          <a:cs typeface="Courier New" pitchFamily="34" charset="-120"/>
                        </a:rPr>
                        <a:t>/api/products/stats</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Inventory KPIs</a:t>
                      </a:r>
                      <a:endParaRPr lang="en-US" sz="1200" dirty="0"/>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0F766E"/>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B2A"/>
                          </a:solidFill>
                          <a:latin typeface="Courier New" pitchFamily="34" charset="0"/>
                          <a:ea typeface="Courier New" pitchFamily="34" charset="-122"/>
                          <a:cs typeface="Courier New" pitchFamily="34" charset="-120"/>
                        </a:rPr>
                        <a:t>/api/products/{id}</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One product</a:t>
                      </a:r>
                      <a:endParaRPr lang="en-US" sz="1200" dirty="0"/>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F59E0B"/>
                          </a:solidFill>
                          <a:latin typeface="Courier New" pitchFamily="34" charset="0"/>
                          <a:ea typeface="Courier New" pitchFamily="34" charset="-122"/>
                          <a:cs typeface="Courier New" pitchFamily="34" charset="-120"/>
                        </a:rPr>
                        <a:t>POST</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B2A"/>
                          </a:solidFill>
                          <a:latin typeface="Courier New" pitchFamily="34" charset="0"/>
                          <a:ea typeface="Courier New" pitchFamily="34" charset="-122"/>
                          <a:cs typeface="Courier New" pitchFamily="34" charset="-120"/>
                        </a:rPr>
                        <a:t>/api/products</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Create (409 on duplicate SKU)</a:t>
                      </a:r>
                      <a:endParaRPr lang="en-US" sz="1200" dirty="0"/>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F59E0B"/>
                          </a:solidFill>
                          <a:latin typeface="Courier New" pitchFamily="34" charset="0"/>
                          <a:ea typeface="Courier New" pitchFamily="34" charset="-122"/>
                          <a:cs typeface="Courier New" pitchFamily="34" charset="-120"/>
                        </a:rPr>
                        <a:t>PUT</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B2A"/>
                          </a:solidFill>
                          <a:latin typeface="Courier New" pitchFamily="34" charset="0"/>
                          <a:ea typeface="Courier New" pitchFamily="34" charset="-122"/>
                          <a:cs typeface="Courier New" pitchFamily="34" charset="-120"/>
                        </a:rPr>
                        <a:t>/api/products/{id}</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Update product</a:t>
                      </a:r>
                      <a:endParaRPr lang="en-US" sz="1200" dirty="0"/>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DC2626"/>
                          </a:solidFill>
                          <a:latin typeface="Courier New" pitchFamily="34" charset="0"/>
                          <a:ea typeface="Courier New" pitchFamily="34" charset="-122"/>
                          <a:cs typeface="Courier New" pitchFamily="34" charset="-120"/>
                        </a:rPr>
                        <a:t>DELETE</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B2A"/>
                          </a:solidFill>
                          <a:latin typeface="Courier New" pitchFamily="34" charset="0"/>
                          <a:ea typeface="Courier New" pitchFamily="34" charset="-122"/>
                          <a:cs typeface="Courier New" pitchFamily="34" charset="-120"/>
                        </a:rPr>
                        <a:t>/api/products/{id}</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Delete product + history</a:t>
                      </a:r>
                      <a:endParaRPr lang="en-US" sz="1200" dirty="0"/>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F59E0B"/>
                          </a:solidFill>
                          <a:latin typeface="Courier New" pitchFamily="34" charset="0"/>
                          <a:ea typeface="Courier New" pitchFamily="34" charset="-122"/>
                          <a:cs typeface="Courier New" pitchFamily="34" charset="-120"/>
                        </a:rPr>
                        <a:t>POST</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B2A"/>
                          </a:solidFill>
                          <a:latin typeface="Courier New" pitchFamily="34" charset="0"/>
                          <a:ea typeface="Courier New" pitchFamily="34" charset="-122"/>
                          <a:cs typeface="Courier New" pitchFamily="34" charset="-120"/>
                        </a:rPr>
                        <a:t>/api/products/{id}/adjust</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Record stock movement</a:t>
                      </a:r>
                      <a:endParaRPr lang="en-US" sz="1200" dirty="0"/>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0F766E"/>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B2A"/>
                          </a:solidFill>
                          <a:latin typeface="Courier New" pitchFamily="34" charset="0"/>
                          <a:ea typeface="Courier New" pitchFamily="34" charset="-122"/>
                          <a:cs typeface="Courier New" pitchFamily="34" charset="-120"/>
                        </a:rPr>
                        <a:t>/api/movements</a:t>
                      </a:r>
                      <a:endParaRPr lang="en-US" sz="1200" dirty="0">
                        <a:latin typeface="Courier New" charset="0"/>
                        <a:ea typeface="Courier New" charset="0"/>
                        <a:cs typeface="Courier New" charset="0"/>
                      </a:endParaRPr>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rPr>
                        <a:t>Recent movements feed</a:t>
                      </a:r>
                      <a:endParaRPr lang="en-US" sz="1200" dirty="0"/>
                    </a:p>
                  </a:txBody>
                  <a:tcPr marL="73152" marR="73152" marT="0" marB="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4" name="Shape 1"/>
          <p:cNvSpPr/>
          <p:nvPr/>
        </p:nvSpPr>
        <p:spPr>
          <a:xfrm>
            <a:off x="7909560" y="1371600"/>
            <a:ext cx="3749040" cy="1280160"/>
          </a:xfrm>
          <a:prstGeom prst="roundRect">
            <a:avLst>
              <a:gd name="adj" fmla="val 5714"/>
            </a:avLst>
          </a:prstGeom>
          <a:solidFill>
            <a:schemeClr val="bg2"/>
          </a:solidFill>
          <a:ln/>
        </p:spPr>
      </p:sp>
      <p:sp>
        <p:nvSpPr>
          <p:cNvPr id="5" name="Text 2"/>
          <p:cNvSpPr txBox="1"/>
          <p:nvPr/>
        </p:nvSpPr>
        <p:spPr>
          <a:xfrm>
            <a:off x="8138160" y="1536192"/>
            <a:ext cx="1280160" cy="91440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12</a:t>
            </a:r>
            <a:endParaRPr lang="en-US" sz="4800" dirty="0"/>
          </a:p>
        </p:txBody>
      </p:sp>
      <p:sp>
        <p:nvSpPr>
          <p:cNvPr id="6" name="Text 3"/>
          <p:cNvSpPr txBox="1"/>
          <p:nvPr/>
        </p:nvSpPr>
        <p:spPr>
          <a:xfrm>
            <a:off x="9372600" y="1554480"/>
            <a:ext cx="2148840" cy="914400"/>
          </a:xfrm>
          <a:prstGeom prst="rect">
            <a:avLst/>
          </a:prstGeom>
          <a:noFill/>
          <a:ln/>
        </p:spPr>
        <p:txBody>
          <a:bodyPr wrap="square" lIns="0" tIns="0" rIns="0" bIns="0" rtlCol="0" anchor="ctr"/>
          <a:lstStyle/>
          <a:p>
            <a:pPr indent="0" marL="0">
              <a:buNone/>
            </a:pPr>
            <a:r>
              <a:rPr lang="en-US" sz="1400" dirty="0">
                <a:solidFill>
                  <a:schemeClr val="tx2"/>
                </a:solidFill>
              </a:rPr>
              <a:t>HTTP endpoints, including full CRUD</a:t>
            </a:r>
            <a:endParaRPr lang="en-US" sz="1400" dirty="0"/>
          </a:p>
        </p:txBody>
      </p:sp>
      <p:sp>
        <p:nvSpPr>
          <p:cNvPr id="7" name="Shape 4"/>
          <p:cNvSpPr/>
          <p:nvPr/>
        </p:nvSpPr>
        <p:spPr>
          <a:xfrm>
            <a:off x="7909560" y="2852928"/>
            <a:ext cx="3749040" cy="1280160"/>
          </a:xfrm>
          <a:prstGeom prst="roundRect">
            <a:avLst>
              <a:gd name="adj" fmla="val 5714"/>
            </a:avLst>
          </a:prstGeom>
          <a:solidFill>
            <a:schemeClr val="bg2"/>
          </a:solidFill>
          <a:ln/>
        </p:spPr>
      </p:sp>
      <p:sp>
        <p:nvSpPr>
          <p:cNvPr id="8" name="Text 5"/>
          <p:cNvSpPr txBox="1"/>
          <p:nvPr/>
        </p:nvSpPr>
        <p:spPr>
          <a:xfrm>
            <a:off x="8138160" y="3017520"/>
            <a:ext cx="1280160" cy="91440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2</a:t>
            </a:r>
            <a:endParaRPr lang="en-US" sz="4800" dirty="0"/>
          </a:p>
        </p:txBody>
      </p:sp>
      <p:sp>
        <p:nvSpPr>
          <p:cNvPr id="9" name="Text 6"/>
          <p:cNvSpPr txBox="1"/>
          <p:nvPr/>
        </p:nvSpPr>
        <p:spPr>
          <a:xfrm>
            <a:off x="9372600" y="3035808"/>
            <a:ext cx="2148840" cy="914400"/>
          </a:xfrm>
          <a:prstGeom prst="rect">
            <a:avLst/>
          </a:prstGeom>
          <a:noFill/>
          <a:ln/>
        </p:spPr>
        <p:txBody>
          <a:bodyPr wrap="square" lIns="0" tIns="0" rIns="0" bIns="0" rtlCol="0" anchor="ctr"/>
          <a:lstStyle/>
          <a:p>
            <a:pPr indent="0" marL="0">
              <a:buNone/>
            </a:pPr>
            <a:r>
              <a:rPr lang="en-US" sz="1400" dirty="0">
                <a:solidFill>
                  <a:schemeClr val="tx2"/>
                </a:solidFill>
              </a:rPr>
              <a:t>tables via 2 Alembic migrations (schema + seed)</a:t>
            </a:r>
            <a:endParaRPr lang="en-US" sz="1400" dirty="0"/>
          </a:p>
        </p:txBody>
      </p:sp>
      <p:sp>
        <p:nvSpPr>
          <p:cNvPr id="10" name="Shape 7"/>
          <p:cNvSpPr/>
          <p:nvPr/>
        </p:nvSpPr>
        <p:spPr>
          <a:xfrm>
            <a:off x="7909560" y="4334256"/>
            <a:ext cx="3749040" cy="1280160"/>
          </a:xfrm>
          <a:prstGeom prst="roundRect">
            <a:avLst>
              <a:gd name="adj" fmla="val 5714"/>
            </a:avLst>
          </a:prstGeom>
          <a:solidFill>
            <a:schemeClr val="bg2"/>
          </a:solidFill>
          <a:ln/>
        </p:spPr>
      </p:sp>
      <p:sp>
        <p:nvSpPr>
          <p:cNvPr id="11" name="Text 8"/>
          <p:cNvSpPr txBox="1"/>
          <p:nvPr/>
        </p:nvSpPr>
        <p:spPr>
          <a:xfrm>
            <a:off x="8138160" y="4498848"/>
            <a:ext cx="1280160" cy="91440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19</a:t>
            </a:r>
            <a:endParaRPr lang="en-US" sz="4800" dirty="0"/>
          </a:p>
        </p:txBody>
      </p:sp>
      <p:sp>
        <p:nvSpPr>
          <p:cNvPr id="12" name="Text 9"/>
          <p:cNvSpPr txBox="1"/>
          <p:nvPr/>
        </p:nvSpPr>
        <p:spPr>
          <a:xfrm>
            <a:off x="9372600" y="4517136"/>
            <a:ext cx="2148840" cy="914400"/>
          </a:xfrm>
          <a:prstGeom prst="rect">
            <a:avLst/>
          </a:prstGeom>
          <a:noFill/>
          <a:ln/>
        </p:spPr>
        <p:txBody>
          <a:bodyPr wrap="square" lIns="0" tIns="0" rIns="0" bIns="0" rtlCol="0" anchor="ctr"/>
          <a:lstStyle/>
          <a:p>
            <a:pPr indent="0" marL="0">
              <a:buNone/>
            </a:pPr>
            <a:r>
              <a:rPr lang="en-US" sz="1400" dirty="0">
                <a:solidFill>
                  <a:schemeClr val="tx2"/>
                </a:solidFill>
              </a:rPr>
              <a:t>pytest cases on an isolated SQLite DB</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CI/CD: every push to main runs the whole chain</a:t>
            </a:r>
            <a:endParaRPr lang="en-US" sz="3200" dirty="0"/>
          </a:p>
        </p:txBody>
      </p:sp>
      <p:sp>
        <p:nvSpPr>
          <p:cNvPr id="3" name="stage-1"/>
          <p:cNvSpPr/>
          <p:nvPr/>
        </p:nvSpPr>
        <p:spPr>
          <a:xfrm>
            <a:off x="548640" y="1463040"/>
            <a:ext cx="1965960" cy="2331720"/>
          </a:xfrm>
          <a:prstGeom prst="roundRect">
            <a:avLst>
              <a:gd name="adj" fmla="val 3721"/>
            </a:avLst>
          </a:prstGeom>
          <a:solidFill>
            <a:schemeClr val="bg2"/>
          </a:solidFill>
          <a:ln/>
        </p:spPr>
      </p:sp>
      <p:sp>
        <p:nvSpPr>
          <p:cNvPr id="4" name="Shape 2"/>
          <p:cNvSpPr/>
          <p:nvPr/>
        </p:nvSpPr>
        <p:spPr>
          <a:xfrm>
            <a:off x="1207008" y="1691640"/>
            <a:ext cx="640080" cy="64008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347826" y="1832458"/>
            <a:ext cx="358445" cy="358445"/>
          </a:xfrm>
          <a:prstGeom prst="rect">
            <a:avLst/>
          </a:prstGeom>
        </p:spPr>
      </p:pic>
      <p:sp>
        <p:nvSpPr>
          <p:cNvPr id="6" name="Text 3"/>
          <p:cNvSpPr txBox="1"/>
          <p:nvPr/>
        </p:nvSpPr>
        <p:spPr>
          <a:xfrm>
            <a:off x="640080" y="2468880"/>
            <a:ext cx="1783080" cy="365760"/>
          </a:xfrm>
          <a:prstGeom prst="rect">
            <a:avLst/>
          </a:prstGeom>
          <a:noFill/>
          <a:ln/>
        </p:spPr>
        <p:txBody>
          <a:bodyPr wrap="square" lIns="0" tIns="0" rIns="0" bIns="0" rtlCol="0" anchor="t"/>
          <a:lstStyle/>
          <a:p>
            <a:pPr algn="ctr" indent="0" marL="0">
              <a:buNone/>
            </a:pPr>
            <a:r>
              <a:rPr lang="en-US" sz="1700" b="1" dirty="0">
                <a:solidFill>
                  <a:schemeClr val="tx1"/>
                </a:solidFill>
              </a:rPr>
              <a:t>1  Test</a:t>
            </a:r>
            <a:endParaRPr lang="en-US" sz="1700" dirty="0"/>
          </a:p>
        </p:txBody>
      </p:sp>
      <p:sp>
        <p:nvSpPr>
          <p:cNvPr id="7" name="Text 4"/>
          <p:cNvSpPr txBox="1"/>
          <p:nvPr/>
        </p:nvSpPr>
        <p:spPr>
          <a:xfrm>
            <a:off x="685800" y="2880360"/>
            <a:ext cx="1691640" cy="1188720"/>
          </a:xfrm>
          <a:prstGeom prst="rect">
            <a:avLst/>
          </a:prstGeom>
          <a:noFill/>
          <a:ln/>
        </p:spPr>
        <p:txBody>
          <a:bodyPr wrap="square" lIns="0" tIns="0" rIns="0" bIns="0" rtlCol="0" anchor="t"/>
          <a:lstStyle/>
          <a:p>
            <a:pPr algn="ctr" indent="0" marL="0">
              <a:buNone/>
            </a:pPr>
            <a:r>
              <a:rPr lang="en-US" sz="1300" dirty="0">
                <a:solidFill>
                  <a:schemeClr val="tx2"/>
                </a:solidFill>
              </a:rPr>
              <a:t>flake8 lint</a:t>
            </a:r>
            <a:endParaRPr lang="en-US" sz="1300" dirty="0"/>
          </a:p>
          <a:p>
            <a:pPr algn="ctr" indent="0" marL="0">
              <a:buNone/>
            </a:pPr>
            <a:r>
              <a:rPr lang="en-US" sz="1300" dirty="0">
                <a:solidFill>
                  <a:schemeClr val="tx2"/>
                </a:solidFill>
              </a:rPr>
              <a:t>pytest -v (19)</a:t>
            </a:r>
            <a:endParaRPr lang="en-US" sz="1300" dirty="0"/>
          </a:p>
          <a:p>
            <a:pPr algn="ctr" indent="0" marL="0">
              <a:buNone/>
            </a:pPr>
            <a:r>
              <a:rPr lang="en-US" sz="1300" dirty="0">
                <a:solidFill>
                  <a:schemeClr val="tx2"/>
                </a:solidFill>
              </a:rPr>
              <a:t>npm ci + vite build</a:t>
            </a:r>
            <a:endParaRPr lang="en-US" sz="1300" dirty="0"/>
          </a:p>
        </p:txBody>
      </p:sp>
      <p:sp>
        <p:nvSpPr>
          <p:cNvPr id="8" name="Shape 5"/>
          <p:cNvSpPr/>
          <p:nvPr/>
        </p:nvSpPr>
        <p:spPr>
          <a:xfrm>
            <a:off x="2532888" y="2628900"/>
            <a:ext cx="283464" cy="914"/>
          </a:xfrm>
          <a:prstGeom prst="line">
            <a:avLst/>
          </a:prstGeom>
          <a:noFill/>
          <a:ln w="25400">
            <a:solidFill>
              <a:schemeClr val="accent1"/>
            </a:solidFill>
            <a:prstDash val="solid"/>
            <a:tailEnd type="triangle"/>
          </a:ln>
        </p:spPr>
      </p:sp>
      <p:sp>
        <p:nvSpPr>
          <p:cNvPr id="9" name="stage-2"/>
          <p:cNvSpPr/>
          <p:nvPr/>
        </p:nvSpPr>
        <p:spPr>
          <a:xfrm>
            <a:off x="2834640" y="1463040"/>
            <a:ext cx="1965960" cy="2331720"/>
          </a:xfrm>
          <a:prstGeom prst="roundRect">
            <a:avLst>
              <a:gd name="adj" fmla="val 3721"/>
            </a:avLst>
          </a:prstGeom>
          <a:solidFill>
            <a:schemeClr val="bg2"/>
          </a:solidFill>
          <a:ln/>
        </p:spPr>
      </p:sp>
      <p:sp>
        <p:nvSpPr>
          <p:cNvPr id="10" name="Shape 7"/>
          <p:cNvSpPr/>
          <p:nvPr/>
        </p:nvSpPr>
        <p:spPr>
          <a:xfrm>
            <a:off x="3493008" y="1691640"/>
            <a:ext cx="640080" cy="64008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3633826" y="1832458"/>
            <a:ext cx="358445" cy="358445"/>
          </a:xfrm>
          <a:prstGeom prst="rect">
            <a:avLst/>
          </a:prstGeom>
        </p:spPr>
      </p:pic>
      <p:sp>
        <p:nvSpPr>
          <p:cNvPr id="12" name="Text 8"/>
          <p:cNvSpPr txBox="1"/>
          <p:nvPr/>
        </p:nvSpPr>
        <p:spPr>
          <a:xfrm>
            <a:off x="2926080" y="2468880"/>
            <a:ext cx="1783080" cy="365760"/>
          </a:xfrm>
          <a:prstGeom prst="rect">
            <a:avLst/>
          </a:prstGeom>
          <a:noFill/>
          <a:ln/>
        </p:spPr>
        <p:txBody>
          <a:bodyPr wrap="square" lIns="0" tIns="0" rIns="0" bIns="0" rtlCol="0" anchor="t"/>
          <a:lstStyle/>
          <a:p>
            <a:pPr algn="ctr" indent="0" marL="0">
              <a:buNone/>
            </a:pPr>
            <a:r>
              <a:rPr lang="en-US" sz="1700" b="1" dirty="0">
                <a:solidFill>
                  <a:schemeClr val="tx1"/>
                </a:solidFill>
              </a:rPr>
              <a:t>2  Build</a:t>
            </a:r>
            <a:endParaRPr lang="en-US" sz="1700" dirty="0"/>
          </a:p>
        </p:txBody>
      </p:sp>
      <p:sp>
        <p:nvSpPr>
          <p:cNvPr id="13" name="Text 9"/>
          <p:cNvSpPr txBox="1"/>
          <p:nvPr/>
        </p:nvSpPr>
        <p:spPr>
          <a:xfrm>
            <a:off x="2971800" y="2880360"/>
            <a:ext cx="1691640" cy="1188720"/>
          </a:xfrm>
          <a:prstGeom prst="rect">
            <a:avLst/>
          </a:prstGeom>
          <a:noFill/>
          <a:ln/>
        </p:spPr>
        <p:txBody>
          <a:bodyPr wrap="square" lIns="0" tIns="0" rIns="0" bIns="0" rtlCol="0" anchor="t"/>
          <a:lstStyle/>
          <a:p>
            <a:pPr algn="ctr" indent="0" marL="0">
              <a:buNone/>
            </a:pPr>
            <a:r>
              <a:rPr lang="en-US" sz="1300" dirty="0">
                <a:solidFill>
                  <a:schemeClr val="tx2"/>
                </a:solidFill>
              </a:rPr>
              <a:t>Docker Buildx</a:t>
            </a:r>
            <a:endParaRPr lang="en-US" sz="1300" dirty="0"/>
          </a:p>
          <a:p>
            <a:pPr algn="ctr" indent="0" marL="0">
              <a:buNone/>
            </a:pPr>
            <a:r>
              <a:rPr lang="en-US" sz="1300" dirty="0">
                <a:solidFill>
                  <a:schemeClr val="tx2"/>
                </a:solidFill>
              </a:rPr>
              <a:t>multi-stage images</a:t>
            </a:r>
            <a:endParaRPr lang="en-US" sz="1300" dirty="0"/>
          </a:p>
          <a:p>
            <a:pPr algn="ctr" indent="0" marL="0">
              <a:buNone/>
            </a:pPr>
            <a:r>
              <a:rPr lang="en-US" sz="1300" dirty="0">
                <a:solidFill>
                  <a:schemeClr val="tx2"/>
                </a:solidFill>
              </a:rPr>
              <a:t>GHA layer cache</a:t>
            </a:r>
            <a:endParaRPr lang="en-US" sz="1300" dirty="0"/>
          </a:p>
        </p:txBody>
      </p:sp>
      <p:sp>
        <p:nvSpPr>
          <p:cNvPr id="14" name="Shape 10"/>
          <p:cNvSpPr/>
          <p:nvPr/>
        </p:nvSpPr>
        <p:spPr>
          <a:xfrm>
            <a:off x="4818888" y="2628900"/>
            <a:ext cx="283464" cy="914"/>
          </a:xfrm>
          <a:prstGeom prst="line">
            <a:avLst/>
          </a:prstGeom>
          <a:noFill/>
          <a:ln w="25400">
            <a:solidFill>
              <a:schemeClr val="accent1"/>
            </a:solidFill>
            <a:prstDash val="solid"/>
            <a:tailEnd type="triangle"/>
          </a:ln>
        </p:spPr>
      </p:sp>
      <p:sp>
        <p:nvSpPr>
          <p:cNvPr id="15" name="stage-3"/>
          <p:cNvSpPr/>
          <p:nvPr/>
        </p:nvSpPr>
        <p:spPr>
          <a:xfrm>
            <a:off x="5120640" y="1463040"/>
            <a:ext cx="1965960" cy="2331720"/>
          </a:xfrm>
          <a:prstGeom prst="roundRect">
            <a:avLst>
              <a:gd name="adj" fmla="val 3721"/>
            </a:avLst>
          </a:prstGeom>
          <a:solidFill>
            <a:schemeClr val="bg2"/>
          </a:solidFill>
          <a:ln/>
        </p:spPr>
      </p:sp>
      <p:sp>
        <p:nvSpPr>
          <p:cNvPr id="16" name="Shape 12"/>
          <p:cNvSpPr/>
          <p:nvPr/>
        </p:nvSpPr>
        <p:spPr>
          <a:xfrm>
            <a:off x="5779008" y="1691640"/>
            <a:ext cx="640080" cy="640080"/>
          </a:xfrm>
          <a:prstGeom prst="ellipse">
            <a:avLst/>
          </a:prstGeom>
          <a:solidFill>
            <a:schemeClr val="accent2"/>
          </a:solidFill>
          <a:ln/>
        </p:spPr>
      </p:sp>
      <p:pic>
        <p:nvPicPr>
          <p:cNvPr id="17" name="Image 2" descr="preencoded.png">    </p:cNvPr>
          <p:cNvPicPr>
            <a:picLocks noChangeAspect="1"/>
          </p:cNvPicPr>
          <p:nvPr/>
        </p:nvPicPr>
        <p:blipFill>
          <a:blip r:embed="rId3"/>
          <a:stretch>
            <a:fillRect/>
          </a:stretch>
        </p:blipFill>
        <p:spPr>
          <a:xfrm>
            <a:off x="5919826" y="1832458"/>
            <a:ext cx="358445" cy="358445"/>
          </a:xfrm>
          <a:prstGeom prst="rect">
            <a:avLst/>
          </a:prstGeom>
        </p:spPr>
      </p:pic>
      <p:sp>
        <p:nvSpPr>
          <p:cNvPr id="18" name="Text 13"/>
          <p:cNvSpPr txBox="1"/>
          <p:nvPr/>
        </p:nvSpPr>
        <p:spPr>
          <a:xfrm>
            <a:off x="5212080" y="2468880"/>
            <a:ext cx="1783080" cy="365760"/>
          </a:xfrm>
          <a:prstGeom prst="rect">
            <a:avLst/>
          </a:prstGeom>
          <a:noFill/>
          <a:ln/>
        </p:spPr>
        <p:txBody>
          <a:bodyPr wrap="square" lIns="0" tIns="0" rIns="0" bIns="0" rtlCol="0" anchor="t"/>
          <a:lstStyle/>
          <a:p>
            <a:pPr algn="ctr" indent="0" marL="0">
              <a:buNone/>
            </a:pPr>
            <a:r>
              <a:rPr lang="en-US" sz="1700" b="1" dirty="0">
                <a:solidFill>
                  <a:schemeClr val="tx1"/>
                </a:solidFill>
              </a:rPr>
              <a:t>3  Scan</a:t>
            </a:r>
            <a:endParaRPr lang="en-US" sz="1700" dirty="0"/>
          </a:p>
        </p:txBody>
      </p:sp>
      <p:sp>
        <p:nvSpPr>
          <p:cNvPr id="19" name="Text 14"/>
          <p:cNvSpPr txBox="1"/>
          <p:nvPr/>
        </p:nvSpPr>
        <p:spPr>
          <a:xfrm>
            <a:off x="5257800" y="2880360"/>
            <a:ext cx="1691640" cy="1188720"/>
          </a:xfrm>
          <a:prstGeom prst="rect">
            <a:avLst/>
          </a:prstGeom>
          <a:noFill/>
          <a:ln/>
        </p:spPr>
        <p:txBody>
          <a:bodyPr wrap="square" lIns="0" tIns="0" rIns="0" bIns="0" rtlCol="0" anchor="t"/>
          <a:lstStyle/>
          <a:p>
            <a:pPr algn="ctr" indent="0" marL="0">
              <a:buNone/>
            </a:pPr>
            <a:r>
              <a:rPr lang="en-US" sz="1300" dirty="0">
                <a:solidFill>
                  <a:schemeClr val="tx2"/>
                </a:solidFill>
              </a:rPr>
              <a:t>Trivy report → summary</a:t>
            </a:r>
            <a:endParaRPr lang="en-US" sz="1300" dirty="0"/>
          </a:p>
          <a:p>
            <a:pPr algn="ctr" indent="0" marL="0">
              <a:buNone/>
            </a:pPr>
            <a:r>
              <a:rPr lang="en-US" sz="1300" dirty="0">
                <a:solidFill>
                  <a:schemeClr val="tx2"/>
                </a:solidFill>
              </a:rPr>
              <a:t>Trivy gate: fail on</a:t>
            </a:r>
            <a:endParaRPr lang="en-US" sz="1300" dirty="0"/>
          </a:p>
          <a:p>
            <a:pPr algn="ctr" indent="0" marL="0">
              <a:buNone/>
            </a:pPr>
            <a:r>
              <a:rPr lang="en-US" sz="1300" dirty="0">
                <a:solidFill>
                  <a:schemeClr val="tx2"/>
                </a:solidFill>
              </a:rPr>
              <a:t>HIGH / CRITICAL</a:t>
            </a:r>
            <a:endParaRPr lang="en-US" sz="1300" dirty="0"/>
          </a:p>
        </p:txBody>
      </p:sp>
      <p:sp>
        <p:nvSpPr>
          <p:cNvPr id="20" name="Shape 15"/>
          <p:cNvSpPr/>
          <p:nvPr/>
        </p:nvSpPr>
        <p:spPr>
          <a:xfrm>
            <a:off x="7104888" y="2628900"/>
            <a:ext cx="283464" cy="914"/>
          </a:xfrm>
          <a:prstGeom prst="line">
            <a:avLst/>
          </a:prstGeom>
          <a:noFill/>
          <a:ln w="25400">
            <a:solidFill>
              <a:schemeClr val="accent1"/>
            </a:solidFill>
            <a:prstDash val="solid"/>
            <a:tailEnd type="triangle"/>
          </a:ln>
        </p:spPr>
      </p:sp>
      <p:sp>
        <p:nvSpPr>
          <p:cNvPr id="21" name="stage-4"/>
          <p:cNvSpPr/>
          <p:nvPr/>
        </p:nvSpPr>
        <p:spPr>
          <a:xfrm>
            <a:off x="7406640" y="1463040"/>
            <a:ext cx="1965960" cy="2331720"/>
          </a:xfrm>
          <a:prstGeom prst="roundRect">
            <a:avLst>
              <a:gd name="adj" fmla="val 3721"/>
            </a:avLst>
          </a:prstGeom>
          <a:solidFill>
            <a:schemeClr val="bg2"/>
          </a:solidFill>
          <a:ln/>
        </p:spPr>
      </p:sp>
      <p:sp>
        <p:nvSpPr>
          <p:cNvPr id="22" name="Shape 17"/>
          <p:cNvSpPr/>
          <p:nvPr/>
        </p:nvSpPr>
        <p:spPr>
          <a:xfrm>
            <a:off x="8065008" y="1691640"/>
            <a:ext cx="640080" cy="640080"/>
          </a:xfrm>
          <a:prstGeom prst="ellipse">
            <a:avLst/>
          </a:prstGeom>
          <a:solidFill>
            <a:schemeClr val="accent1"/>
          </a:solidFill>
          <a:ln/>
        </p:spPr>
      </p:sp>
      <p:pic>
        <p:nvPicPr>
          <p:cNvPr id="23" name="Image 3" descr="preencoded.png">    </p:cNvPr>
          <p:cNvPicPr>
            <a:picLocks noChangeAspect="1"/>
          </p:cNvPicPr>
          <p:nvPr/>
        </p:nvPicPr>
        <p:blipFill>
          <a:blip r:embed="rId4"/>
          <a:stretch>
            <a:fillRect/>
          </a:stretch>
        </p:blipFill>
        <p:spPr>
          <a:xfrm>
            <a:off x="8205826" y="1832458"/>
            <a:ext cx="358445" cy="358445"/>
          </a:xfrm>
          <a:prstGeom prst="rect">
            <a:avLst/>
          </a:prstGeom>
        </p:spPr>
      </p:pic>
      <p:sp>
        <p:nvSpPr>
          <p:cNvPr id="24" name="Text 18"/>
          <p:cNvSpPr txBox="1"/>
          <p:nvPr/>
        </p:nvSpPr>
        <p:spPr>
          <a:xfrm>
            <a:off x="7498080" y="2468880"/>
            <a:ext cx="1783080" cy="365760"/>
          </a:xfrm>
          <a:prstGeom prst="rect">
            <a:avLst/>
          </a:prstGeom>
          <a:noFill/>
          <a:ln/>
        </p:spPr>
        <p:txBody>
          <a:bodyPr wrap="square" lIns="0" tIns="0" rIns="0" bIns="0" rtlCol="0" anchor="t"/>
          <a:lstStyle/>
          <a:p>
            <a:pPr algn="ctr" indent="0" marL="0">
              <a:buNone/>
            </a:pPr>
            <a:r>
              <a:rPr lang="en-US" sz="1700" b="1" dirty="0">
                <a:solidFill>
                  <a:schemeClr val="tx1"/>
                </a:solidFill>
              </a:rPr>
              <a:t>4  Push</a:t>
            </a:r>
            <a:endParaRPr lang="en-US" sz="1700" dirty="0"/>
          </a:p>
        </p:txBody>
      </p:sp>
      <p:sp>
        <p:nvSpPr>
          <p:cNvPr id="25" name="Text 19"/>
          <p:cNvSpPr txBox="1"/>
          <p:nvPr/>
        </p:nvSpPr>
        <p:spPr>
          <a:xfrm>
            <a:off x="7543800" y="2880360"/>
            <a:ext cx="1691640" cy="1188720"/>
          </a:xfrm>
          <a:prstGeom prst="rect">
            <a:avLst/>
          </a:prstGeom>
          <a:noFill/>
          <a:ln/>
        </p:spPr>
        <p:txBody>
          <a:bodyPr wrap="square" lIns="0" tIns="0" rIns="0" bIns="0" rtlCol="0" anchor="t"/>
          <a:lstStyle/>
          <a:p>
            <a:pPr algn="ctr" indent="0" marL="0">
              <a:buNone/>
            </a:pPr>
            <a:r>
              <a:rPr lang="en-US" sz="1300" dirty="0">
                <a:solidFill>
                  <a:schemeClr val="tx2"/>
                </a:solidFill>
              </a:rPr>
              <a:t>Login to GHCR</a:t>
            </a:r>
            <a:endParaRPr lang="en-US" sz="1300" dirty="0"/>
          </a:p>
          <a:p>
            <a:pPr algn="ctr" indent="0" marL="0">
              <a:buNone/>
            </a:pPr>
            <a:r>
              <a:rPr lang="en-US" sz="1300" dirty="0">
                <a:solidFill>
                  <a:schemeClr val="tx2"/>
                </a:solidFill>
              </a:rPr>
              <a:t>push :&lt;git-sha&gt;</a:t>
            </a:r>
            <a:endParaRPr lang="en-US" sz="1300" dirty="0"/>
          </a:p>
          <a:p>
            <a:pPr algn="ctr" indent="0" marL="0">
              <a:buNone/>
            </a:pPr>
            <a:r>
              <a:rPr lang="en-US" sz="1300" dirty="0">
                <a:solidFill>
                  <a:schemeClr val="tx2"/>
                </a:solidFill>
              </a:rPr>
              <a:t>never :latest</a:t>
            </a:r>
            <a:endParaRPr lang="en-US" sz="1300" dirty="0"/>
          </a:p>
        </p:txBody>
      </p:sp>
      <p:sp>
        <p:nvSpPr>
          <p:cNvPr id="26" name="Shape 20"/>
          <p:cNvSpPr/>
          <p:nvPr/>
        </p:nvSpPr>
        <p:spPr>
          <a:xfrm>
            <a:off x="9390888" y="2628900"/>
            <a:ext cx="283464" cy="914"/>
          </a:xfrm>
          <a:prstGeom prst="line">
            <a:avLst/>
          </a:prstGeom>
          <a:noFill/>
          <a:ln w="25400">
            <a:solidFill>
              <a:schemeClr val="accent1"/>
            </a:solidFill>
            <a:prstDash val="solid"/>
            <a:tailEnd type="triangle"/>
          </a:ln>
        </p:spPr>
      </p:sp>
      <p:sp>
        <p:nvSpPr>
          <p:cNvPr id="27" name="stage-5"/>
          <p:cNvSpPr/>
          <p:nvPr/>
        </p:nvSpPr>
        <p:spPr>
          <a:xfrm>
            <a:off x="9692640" y="1463040"/>
            <a:ext cx="1965960" cy="2331720"/>
          </a:xfrm>
          <a:prstGeom prst="roundRect">
            <a:avLst>
              <a:gd name="adj" fmla="val 3721"/>
            </a:avLst>
          </a:prstGeom>
          <a:solidFill>
            <a:schemeClr val="bg2"/>
          </a:solidFill>
          <a:ln/>
        </p:spPr>
      </p:sp>
      <p:sp>
        <p:nvSpPr>
          <p:cNvPr id="28" name="Shape 22"/>
          <p:cNvSpPr/>
          <p:nvPr/>
        </p:nvSpPr>
        <p:spPr>
          <a:xfrm>
            <a:off x="10351008" y="1691640"/>
            <a:ext cx="640080" cy="640080"/>
          </a:xfrm>
          <a:prstGeom prst="ellipse">
            <a:avLst/>
          </a:prstGeom>
          <a:solidFill>
            <a:schemeClr val="accent1"/>
          </a:solidFill>
          <a:ln/>
        </p:spPr>
      </p:sp>
      <p:pic>
        <p:nvPicPr>
          <p:cNvPr id="29" name="Image 4" descr="preencoded.png">    </p:cNvPr>
          <p:cNvPicPr>
            <a:picLocks noChangeAspect="1"/>
          </p:cNvPicPr>
          <p:nvPr/>
        </p:nvPicPr>
        <p:blipFill>
          <a:blip r:embed="rId5"/>
          <a:stretch>
            <a:fillRect/>
          </a:stretch>
        </p:blipFill>
        <p:spPr>
          <a:xfrm>
            <a:off x="10491826" y="1832458"/>
            <a:ext cx="358445" cy="358445"/>
          </a:xfrm>
          <a:prstGeom prst="rect">
            <a:avLst/>
          </a:prstGeom>
        </p:spPr>
      </p:pic>
      <p:sp>
        <p:nvSpPr>
          <p:cNvPr id="30" name="Text 23"/>
          <p:cNvSpPr txBox="1"/>
          <p:nvPr/>
        </p:nvSpPr>
        <p:spPr>
          <a:xfrm>
            <a:off x="9784080" y="2468880"/>
            <a:ext cx="1783080" cy="365760"/>
          </a:xfrm>
          <a:prstGeom prst="rect">
            <a:avLst/>
          </a:prstGeom>
          <a:noFill/>
          <a:ln/>
        </p:spPr>
        <p:txBody>
          <a:bodyPr wrap="square" lIns="0" tIns="0" rIns="0" bIns="0" rtlCol="0" anchor="t"/>
          <a:lstStyle/>
          <a:p>
            <a:pPr algn="ctr" indent="0" marL="0">
              <a:buNone/>
            </a:pPr>
            <a:r>
              <a:rPr lang="en-US" sz="1700" b="1" dirty="0">
                <a:solidFill>
                  <a:schemeClr val="tx1"/>
                </a:solidFill>
              </a:rPr>
              <a:t>5  Deploy</a:t>
            </a:r>
            <a:endParaRPr lang="en-US" sz="1700" dirty="0"/>
          </a:p>
        </p:txBody>
      </p:sp>
      <p:sp>
        <p:nvSpPr>
          <p:cNvPr id="31" name="Text 24"/>
          <p:cNvSpPr txBox="1"/>
          <p:nvPr/>
        </p:nvSpPr>
        <p:spPr>
          <a:xfrm>
            <a:off x="9829800" y="2880360"/>
            <a:ext cx="1691640" cy="1188720"/>
          </a:xfrm>
          <a:prstGeom prst="rect">
            <a:avLst/>
          </a:prstGeom>
          <a:noFill/>
          <a:ln/>
        </p:spPr>
        <p:txBody>
          <a:bodyPr wrap="square" lIns="0" tIns="0" rIns="0" bIns="0" rtlCol="0" anchor="t"/>
          <a:lstStyle/>
          <a:p>
            <a:pPr algn="ctr" indent="0" marL="0">
              <a:buNone/>
            </a:pPr>
            <a:r>
              <a:rPr lang="en-US" sz="1300" dirty="0">
                <a:solidFill>
                  <a:schemeClr val="tx2"/>
                </a:solidFill>
              </a:rPr>
              <a:t>sed tag into values.yaml</a:t>
            </a:r>
            <a:endParaRPr lang="en-US" sz="1300" dirty="0"/>
          </a:p>
          <a:p>
            <a:pPr algn="ctr" indent="0" marL="0">
              <a:buNone/>
            </a:pPr>
            <a:r>
              <a:rPr lang="en-US" sz="1300" dirty="0">
                <a:solidFill>
                  <a:schemeClr val="tx2"/>
                </a:solidFill>
              </a:rPr>
              <a:t>commit [skip ci]</a:t>
            </a:r>
            <a:endParaRPr lang="en-US" sz="1300" dirty="0"/>
          </a:p>
          <a:p>
            <a:pPr algn="ctr" indent="0" marL="0">
              <a:buNone/>
            </a:pPr>
            <a:r>
              <a:rPr lang="en-US" sz="1300" dirty="0">
                <a:solidFill>
                  <a:schemeClr val="tx2"/>
                </a:solidFill>
              </a:rPr>
              <a:t>Argo CD syncs</a:t>
            </a:r>
            <a:endParaRPr lang="en-US" sz="1300" dirty="0"/>
          </a:p>
        </p:txBody>
      </p:sp>
      <p:sp>
        <p:nvSpPr>
          <p:cNvPr id="32" name="Shape 25"/>
          <p:cNvSpPr/>
          <p:nvPr/>
        </p:nvSpPr>
        <p:spPr>
          <a:xfrm>
            <a:off x="548640" y="4160520"/>
            <a:ext cx="11109960" cy="1600200"/>
          </a:xfrm>
          <a:prstGeom prst="roundRect">
            <a:avLst>
              <a:gd name="adj" fmla="val 4571"/>
            </a:avLst>
          </a:prstGeom>
          <a:solidFill>
            <a:schemeClr val="bg1"/>
          </a:solidFill>
          <a:ln w="12700">
            <a:solidFill>
              <a:srgbClr val="E2E8F0"/>
            </a:solidFill>
            <a:prstDash val="solid"/>
          </a:ln>
        </p:spPr>
      </p:sp>
      <p:sp>
        <p:nvSpPr>
          <p:cNvPr id="33" name="Text 26"/>
          <p:cNvSpPr txBox="1"/>
          <p:nvPr/>
        </p:nvSpPr>
        <p:spPr>
          <a:xfrm>
            <a:off x="777240" y="4297680"/>
            <a:ext cx="10698480" cy="1325880"/>
          </a:xfrm>
          <a:prstGeom prst="rect">
            <a:avLst/>
          </a:prstGeom>
          <a:noFill/>
          <a:ln/>
        </p:spPr>
        <p:txBody>
          <a:bodyPr wrap="square" lIns="0" tIns="0" rIns="0" bIns="0" rtlCol="0" anchor="ctr"/>
          <a:lstStyle/>
          <a:p>
            <a:pPr indent="0" marL="0">
              <a:spcAft>
                <a:spcPts val="400"/>
              </a:spcAft>
              <a:buNone/>
            </a:pPr>
            <a:r>
              <a:rPr lang="en-US" sz="1400" b="1" dirty="0">
                <a:solidFill>
                  <a:schemeClr val="tx1"/>
                </a:solidFill>
              </a:rPr>
              <a:t>Traceability: </a:t>
            </a:r>
            <a:pPr indent="0" marL="0">
              <a:spcAft>
                <a:spcPts val="400"/>
              </a:spcAft>
              <a:buNone/>
            </a:pPr>
            <a:r>
              <a:rPr lang="en-US" sz="1400" dirty="0">
                <a:solidFill>
                  <a:schemeClr val="tx2"/>
                </a:solidFill>
              </a:rPr>
              <a:t>image tag = full commit SHA, e.g. ghcr.io/sidantxdev/stockpilot-backend:3f9c2e1…, also shown in the UI sidebar.</a:t>
            </a:r>
            <a:endParaRPr lang="en-US" sz="1400" dirty="0"/>
          </a:p>
          <a:p>
            <a:pPr indent="0" marL="0">
              <a:spcAft>
                <a:spcPts val="400"/>
              </a:spcAft>
              <a:buNone/>
            </a:pPr>
            <a:r>
              <a:rPr lang="en-US" sz="1400" b="1" dirty="0">
                <a:solidFill>
                  <a:schemeClr val="tx1"/>
                </a:solidFill>
              </a:rPr>
              <a:t>Safety: </a:t>
            </a:r>
            <a:pPr indent="0" marL="0">
              <a:spcAft>
                <a:spcPts val="400"/>
              </a:spcAft>
              <a:buNone/>
            </a:pPr>
            <a:r>
              <a:rPr lang="en-US" sz="1400" dirty="0">
                <a:solidFill>
                  <a:schemeClr val="tx2"/>
                </a:solidFill>
              </a:rPr>
              <a:t>pull requests build and scan but never push. Jobs get least-privilege GITHUB_TOKEN scopes. The Trivy action is pinned by commit SHA.</a:t>
            </a:r>
            <a:endParaRPr lang="en-US" sz="1400" dirty="0"/>
          </a:p>
          <a:p>
            <a:pPr indent="0" marL="0">
              <a:spcAft>
                <a:spcPts val="400"/>
              </a:spcAft>
              <a:buNone/>
            </a:pPr>
            <a:r>
              <a:rPr lang="en-US" sz="1400" b="1" dirty="0">
                <a:solidFill>
                  <a:schemeClr val="tx1"/>
                </a:solidFill>
              </a:rPr>
              <a:t>No cluster credentials in CI: </a:t>
            </a:r>
            <a:pPr indent="0" marL="0">
              <a:spcAft>
                <a:spcPts val="400"/>
              </a:spcAft>
              <a:buNone/>
            </a:pPr>
            <a:r>
              <a:rPr lang="en-US" sz="1400" dirty="0">
                <a:solidFill>
                  <a:schemeClr val="tx2"/>
                </a:solidFill>
              </a:rPr>
              <a:t>the pipeline only changes Git; Argo CD performs the deployment.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DevSecOps: the Trivy gate caught real CVEs</a:t>
            </a:r>
            <a:endParaRPr lang="en-US" sz="3200" dirty="0"/>
          </a:p>
        </p:txBody>
      </p:sp>
      <p:sp>
        <p:nvSpPr>
          <p:cNvPr id="3" name="Shape 1"/>
          <p:cNvSpPr/>
          <p:nvPr/>
        </p:nvSpPr>
        <p:spPr>
          <a:xfrm>
            <a:off x="548640" y="1371600"/>
            <a:ext cx="4206240" cy="1325880"/>
          </a:xfrm>
          <a:prstGeom prst="roundRect">
            <a:avLst>
              <a:gd name="adj" fmla="val 5517"/>
            </a:avLst>
          </a:prstGeom>
          <a:solidFill>
            <a:schemeClr val="bg2"/>
          </a:solidFill>
          <a:ln/>
        </p:spPr>
      </p:sp>
      <p:sp>
        <p:nvSpPr>
          <p:cNvPr id="4" name="Text 2"/>
          <p:cNvSpPr txBox="1"/>
          <p:nvPr/>
        </p:nvSpPr>
        <p:spPr>
          <a:xfrm>
            <a:off x="777240" y="1508760"/>
            <a:ext cx="1828800" cy="1051560"/>
          </a:xfrm>
          <a:prstGeom prst="rect">
            <a:avLst/>
          </a:prstGeom>
          <a:noFill/>
          <a:ln/>
        </p:spPr>
        <p:txBody>
          <a:bodyPr wrap="square" lIns="0" tIns="0" rIns="0" bIns="0" rtlCol="0" anchor="ctr"/>
          <a:lstStyle/>
          <a:p>
            <a:pPr indent="0" marL="0">
              <a:buNone/>
            </a:pPr>
            <a:r>
              <a:rPr lang="en-US" sz="4400" b="1" dirty="0">
                <a:solidFill>
                  <a:schemeClr val="accent2"/>
                </a:solidFill>
                <a:latin typeface="Arial" pitchFamily="34" charset="0"/>
                <a:ea typeface="Arial" pitchFamily="34" charset="-122"/>
                <a:cs typeface="Arial" pitchFamily="34" charset="-120"/>
              </a:rPr>
              <a:t>4 → 0</a:t>
            </a:r>
            <a:endParaRPr lang="en-US" sz="4400" dirty="0"/>
          </a:p>
        </p:txBody>
      </p:sp>
      <p:sp>
        <p:nvSpPr>
          <p:cNvPr id="5" name="Text 3"/>
          <p:cNvSpPr txBox="1"/>
          <p:nvPr/>
        </p:nvSpPr>
        <p:spPr>
          <a:xfrm>
            <a:off x="2651760" y="1508760"/>
            <a:ext cx="1965960" cy="1051560"/>
          </a:xfrm>
          <a:prstGeom prst="rect">
            <a:avLst/>
          </a:prstGeom>
          <a:noFill/>
          <a:ln/>
        </p:spPr>
        <p:txBody>
          <a:bodyPr wrap="square" lIns="0" tIns="0" rIns="0" bIns="0" rtlCol="0" anchor="ctr"/>
          <a:lstStyle/>
          <a:p>
            <a:pPr indent="0" marL="0">
              <a:buNone/>
            </a:pPr>
            <a:r>
              <a:rPr lang="en-US" sz="1400" dirty="0">
                <a:solidFill>
                  <a:schemeClr val="tx2"/>
                </a:solidFill>
              </a:rPr>
              <a:t>HIGH CVEs found on the first scan, then fixed</a:t>
            </a:r>
            <a:endParaRPr lang="en-US" sz="1400" dirty="0"/>
          </a:p>
        </p:txBody>
      </p:sp>
      <p:sp>
        <p:nvSpPr>
          <p:cNvPr id="6" name="Shape 4"/>
          <p:cNvSpPr/>
          <p:nvPr/>
        </p:nvSpPr>
        <p:spPr>
          <a:xfrm>
            <a:off x="548640" y="2880360"/>
            <a:ext cx="4206240" cy="1325880"/>
          </a:xfrm>
          <a:prstGeom prst="roundRect">
            <a:avLst>
              <a:gd name="adj" fmla="val 5517"/>
            </a:avLst>
          </a:prstGeom>
          <a:solidFill>
            <a:schemeClr val="bg2"/>
          </a:solidFill>
          <a:ln/>
        </p:spPr>
      </p:sp>
      <p:sp>
        <p:nvSpPr>
          <p:cNvPr id="7" name="Text 5"/>
          <p:cNvSpPr txBox="1"/>
          <p:nvPr/>
        </p:nvSpPr>
        <p:spPr>
          <a:xfrm>
            <a:off x="777240" y="3017520"/>
            <a:ext cx="1828800" cy="1051560"/>
          </a:xfrm>
          <a:prstGeom prst="rect">
            <a:avLst/>
          </a:prstGeom>
          <a:noFill/>
          <a:ln/>
        </p:spPr>
        <p:txBody>
          <a:bodyPr wrap="square" lIns="0" tIns="0" rIns="0" bIns="0" rtlCol="0" anchor="ctr"/>
          <a:lstStyle/>
          <a:p>
            <a:pPr indent="0" marL="0">
              <a:buNone/>
            </a:pPr>
            <a:r>
              <a:rPr lang="en-US" sz="4400" b="1" dirty="0">
                <a:solidFill>
                  <a:schemeClr val="accent6"/>
                </a:solidFill>
                <a:latin typeface="Arial" pitchFamily="34" charset="0"/>
                <a:ea typeface="Arial" pitchFamily="34" charset="-122"/>
                <a:cs typeface="Arial" pitchFamily="34" charset="-120"/>
              </a:rPr>
              <a:t>0</a:t>
            </a:r>
            <a:endParaRPr lang="en-US" sz="4400" dirty="0"/>
          </a:p>
        </p:txBody>
      </p:sp>
      <p:sp>
        <p:nvSpPr>
          <p:cNvPr id="8" name="Text 6"/>
          <p:cNvSpPr txBox="1"/>
          <p:nvPr/>
        </p:nvSpPr>
        <p:spPr>
          <a:xfrm>
            <a:off x="2651760" y="3017520"/>
            <a:ext cx="1965960" cy="1051560"/>
          </a:xfrm>
          <a:prstGeom prst="rect">
            <a:avLst/>
          </a:prstGeom>
          <a:noFill/>
          <a:ln/>
        </p:spPr>
        <p:txBody>
          <a:bodyPr wrap="square" lIns="0" tIns="0" rIns="0" bIns="0" rtlCol="0" anchor="ctr"/>
          <a:lstStyle/>
          <a:p>
            <a:pPr indent="0" marL="0">
              <a:buNone/>
            </a:pPr>
            <a:r>
              <a:rPr lang="en-US" sz="1400" dirty="0">
                <a:solidFill>
                  <a:schemeClr val="tx2"/>
                </a:solidFill>
              </a:rPr>
              <a:t>fixable HIGH / CRITICAL in either image today</a:t>
            </a:r>
            <a:endParaRPr lang="en-US" sz="1400" dirty="0"/>
          </a:p>
        </p:txBody>
      </p:sp>
      <p:sp>
        <p:nvSpPr>
          <p:cNvPr id="9" name="Shape 7"/>
          <p:cNvSpPr/>
          <p:nvPr/>
        </p:nvSpPr>
        <p:spPr>
          <a:xfrm>
            <a:off x="548640" y="4389120"/>
            <a:ext cx="4206240" cy="1325880"/>
          </a:xfrm>
          <a:prstGeom prst="roundRect">
            <a:avLst>
              <a:gd name="adj" fmla="val 5517"/>
            </a:avLst>
          </a:prstGeom>
          <a:solidFill>
            <a:schemeClr val="bg2"/>
          </a:solidFill>
          <a:ln/>
        </p:spPr>
      </p:sp>
      <p:sp>
        <p:nvSpPr>
          <p:cNvPr id="10" name="Text 8"/>
          <p:cNvSpPr txBox="1"/>
          <p:nvPr/>
        </p:nvSpPr>
        <p:spPr>
          <a:xfrm>
            <a:off x="777240" y="4526280"/>
            <a:ext cx="1828800" cy="105156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0</a:t>
            </a:r>
            <a:endParaRPr lang="en-US" sz="4400" dirty="0"/>
          </a:p>
        </p:txBody>
      </p:sp>
      <p:sp>
        <p:nvSpPr>
          <p:cNvPr id="11" name="Text 9"/>
          <p:cNvSpPr txBox="1"/>
          <p:nvPr/>
        </p:nvSpPr>
        <p:spPr>
          <a:xfrm>
            <a:off x="2651760" y="4526280"/>
            <a:ext cx="1965960" cy="1051560"/>
          </a:xfrm>
          <a:prstGeom prst="rect">
            <a:avLst/>
          </a:prstGeom>
          <a:noFill/>
          <a:ln/>
        </p:spPr>
        <p:txBody>
          <a:bodyPr wrap="square" lIns="0" tIns="0" rIns="0" bIns="0" rtlCol="0" anchor="ctr"/>
          <a:lstStyle/>
          <a:p>
            <a:pPr indent="0" marL="0">
              <a:buNone/>
            </a:pPr>
            <a:r>
              <a:rPr lang="en-US" sz="1400" dirty="0">
                <a:solidFill>
                  <a:schemeClr val="tx2"/>
                </a:solidFill>
              </a:rPr>
              <a:t>vulnerabilities of any severity in the Alpine frontend</a:t>
            </a:r>
            <a:endParaRPr lang="en-US" sz="1400" dirty="0"/>
          </a:p>
        </p:txBody>
      </p:sp>
      <p:sp>
        <p:nvSpPr>
          <p:cNvPr id="12" name="Text 10"/>
          <p:cNvSpPr txBox="1"/>
          <p:nvPr/>
        </p:nvSpPr>
        <p:spPr>
          <a:xfrm>
            <a:off x="5166360" y="1371600"/>
            <a:ext cx="6400800" cy="365760"/>
          </a:xfrm>
          <a:prstGeom prst="rect">
            <a:avLst/>
          </a:prstGeom>
          <a:noFill/>
          <a:ln/>
        </p:spPr>
        <p:txBody>
          <a:bodyPr wrap="square" lIns="0" tIns="0" rIns="0" bIns="0" rtlCol="0" anchor="t"/>
          <a:lstStyle/>
          <a:p>
            <a:pPr indent="0" marL="0">
              <a:buNone/>
            </a:pPr>
            <a:r>
              <a:rPr lang="en-US" sz="2000" b="1" dirty="0">
                <a:solidFill>
                  <a:schemeClr val="tx1"/>
                </a:solidFill>
              </a:rPr>
              <a:t>What the scan found</a:t>
            </a:r>
            <a:endParaRPr lang="en-US" sz="2000" dirty="0"/>
          </a:p>
        </p:txBody>
      </p:sp>
      <p:sp>
        <p:nvSpPr>
          <p:cNvPr id="13" name="Text 11"/>
          <p:cNvSpPr txBox="1"/>
          <p:nvPr/>
        </p:nvSpPr>
        <p:spPr>
          <a:xfrm>
            <a:off x="5166360" y="1783080"/>
            <a:ext cx="649224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urllib3 CVE-2026-97687 (TLS bypass via HTTPS proxy), CVE-2026-97689, msgpack and setuptools were flagged HIGH.</a:t>
            </a:r>
            <a:endParaRPr lang="en-US" sz="1400" dirty="0"/>
          </a:p>
          <a:p>
            <a:pPr marL="342900" indent="-342900">
              <a:spcAft>
                <a:spcPts val="600"/>
              </a:spcAft>
              <a:buSzPct val="100000"/>
              <a:buChar char="•"/>
            </a:pPr>
            <a:r>
              <a:rPr lang="en-US" sz="1400" dirty="0">
                <a:solidFill>
                  <a:schemeClr val="tx2"/>
                </a:solidFill>
              </a:rPr>
              <a:t>None were app dependencies: they were vendored inside pip, which the venv carried into the runtime image.</a:t>
            </a:r>
            <a:endParaRPr lang="en-US" sz="1400" dirty="0"/>
          </a:p>
          <a:p>
            <a:pPr marL="342900" indent="-342900">
              <a:spcAft>
                <a:spcPts val="600"/>
              </a:spcAft>
              <a:buSzPct val="100000"/>
              <a:buChar char="•"/>
            </a:pPr>
            <a:r>
              <a:rPr lang="en-US" sz="1400" dirty="0">
                <a:solidFill>
                  <a:schemeClr val="tx2"/>
                </a:solidFill>
              </a:rPr>
              <a:t>Fix: uninstall pip/setuptools after installing requirements. The rescan passed.</a:t>
            </a:r>
            <a:endParaRPr lang="en-US" sz="1400" dirty="0"/>
          </a:p>
          <a:p>
            <a:pPr marL="342900" indent="-342900">
              <a:spcAft>
                <a:spcPts val="600"/>
              </a:spcAft>
              <a:buSzPct val="100000"/>
              <a:buChar char="•"/>
            </a:pPr>
            <a:r>
              <a:rPr lang="en-US" sz="1400" dirty="0">
                <a:solidFill>
                  <a:schemeClr val="tx2"/>
                </a:solidFill>
              </a:rPr>
              <a:t>Remaining Debian CVEs (e.g. libacl1 CVE-2026-54369) have no fix yet, so they are reported but not blocking.</a:t>
            </a:r>
            <a:endParaRPr lang="en-US" sz="1400" dirty="0"/>
          </a:p>
        </p:txBody>
      </p:sp>
      <p:sp>
        <p:nvSpPr>
          <p:cNvPr id="14" name="Text 12"/>
          <p:cNvSpPr txBox="1"/>
          <p:nvPr/>
        </p:nvSpPr>
        <p:spPr>
          <a:xfrm>
            <a:off x="5166360" y="4160520"/>
            <a:ext cx="6400800" cy="365760"/>
          </a:xfrm>
          <a:prstGeom prst="rect">
            <a:avLst/>
          </a:prstGeom>
          <a:noFill/>
          <a:ln/>
        </p:spPr>
        <p:txBody>
          <a:bodyPr wrap="square" lIns="0" tIns="0" rIns="0" bIns="0" rtlCol="0" anchor="t"/>
          <a:lstStyle/>
          <a:p>
            <a:pPr indent="0" marL="0">
              <a:buNone/>
            </a:pPr>
            <a:r>
              <a:rPr lang="en-US" sz="2000" b="1" dirty="0">
                <a:solidFill>
                  <a:schemeClr val="tx1"/>
                </a:solidFill>
              </a:rPr>
              <a:t>Defense in depth</a:t>
            </a:r>
            <a:endParaRPr lang="en-US" sz="2000" dirty="0"/>
          </a:p>
        </p:txBody>
      </p:sp>
      <p:sp>
        <p:nvSpPr>
          <p:cNvPr id="15" name="Shape 13"/>
          <p:cNvSpPr/>
          <p:nvPr/>
        </p:nvSpPr>
        <p:spPr>
          <a:xfrm>
            <a:off x="5166360" y="4617720"/>
            <a:ext cx="2057400" cy="475488"/>
          </a:xfrm>
          <a:prstGeom prst="roundRect">
            <a:avLst>
              <a:gd name="adj" fmla="val 15385"/>
            </a:avLst>
          </a:prstGeom>
          <a:solidFill>
            <a:schemeClr val="bg1"/>
          </a:solidFill>
          <a:ln w="12700">
            <a:solidFill>
              <a:schemeClr val="accent1"/>
            </a:solidFill>
            <a:prstDash val="solid"/>
          </a:ln>
        </p:spPr>
      </p:sp>
      <p:sp>
        <p:nvSpPr>
          <p:cNvPr id="16" name="Text 14"/>
          <p:cNvSpPr txBox="1"/>
          <p:nvPr/>
        </p:nvSpPr>
        <p:spPr>
          <a:xfrm>
            <a:off x="5166360" y="4617720"/>
            <a:ext cx="2057400" cy="475488"/>
          </a:xfrm>
          <a:prstGeom prst="rect">
            <a:avLst/>
          </a:prstGeom>
          <a:noFill/>
          <a:ln/>
        </p:spPr>
        <p:txBody>
          <a:bodyPr wrap="square" lIns="0" tIns="0" rIns="0" bIns="0" rtlCol="0" anchor="ctr"/>
          <a:lstStyle/>
          <a:p>
            <a:pPr algn="ctr" indent="0" marL="0">
              <a:buNone/>
            </a:pPr>
            <a:r>
              <a:rPr lang="en-US" sz="1200" b="1" dirty="0">
                <a:solidFill>
                  <a:schemeClr val="accent3"/>
                </a:solidFill>
              </a:rPr>
              <a:t>non-root uid 10001 / 101</a:t>
            </a:r>
            <a:endParaRPr lang="en-US" sz="1200" dirty="0"/>
          </a:p>
        </p:txBody>
      </p:sp>
      <p:sp>
        <p:nvSpPr>
          <p:cNvPr id="17" name="Shape 15"/>
          <p:cNvSpPr/>
          <p:nvPr/>
        </p:nvSpPr>
        <p:spPr>
          <a:xfrm>
            <a:off x="7360920" y="4617720"/>
            <a:ext cx="2057400" cy="475488"/>
          </a:xfrm>
          <a:prstGeom prst="roundRect">
            <a:avLst>
              <a:gd name="adj" fmla="val 15385"/>
            </a:avLst>
          </a:prstGeom>
          <a:solidFill>
            <a:schemeClr val="bg1"/>
          </a:solidFill>
          <a:ln w="12700">
            <a:solidFill>
              <a:schemeClr val="accent1"/>
            </a:solidFill>
            <a:prstDash val="solid"/>
          </a:ln>
        </p:spPr>
      </p:sp>
      <p:sp>
        <p:nvSpPr>
          <p:cNvPr id="18" name="Text 16"/>
          <p:cNvSpPr txBox="1"/>
          <p:nvPr/>
        </p:nvSpPr>
        <p:spPr>
          <a:xfrm>
            <a:off x="7360920" y="4617720"/>
            <a:ext cx="2057400" cy="475488"/>
          </a:xfrm>
          <a:prstGeom prst="rect">
            <a:avLst/>
          </a:prstGeom>
          <a:noFill/>
          <a:ln/>
        </p:spPr>
        <p:txBody>
          <a:bodyPr wrap="square" lIns="0" tIns="0" rIns="0" bIns="0" rtlCol="0" anchor="ctr"/>
          <a:lstStyle/>
          <a:p>
            <a:pPr algn="ctr" indent="0" marL="0">
              <a:buNone/>
            </a:pPr>
            <a:r>
              <a:rPr lang="en-US" sz="1200" b="1" dirty="0">
                <a:solidFill>
                  <a:schemeClr val="accent3"/>
                </a:solidFill>
              </a:rPr>
              <a:t>read-only root FS</a:t>
            </a:r>
            <a:endParaRPr lang="en-US" sz="1200" dirty="0"/>
          </a:p>
        </p:txBody>
      </p:sp>
      <p:sp>
        <p:nvSpPr>
          <p:cNvPr id="19" name="Shape 17"/>
          <p:cNvSpPr/>
          <p:nvPr/>
        </p:nvSpPr>
        <p:spPr>
          <a:xfrm>
            <a:off x="9555480" y="4617720"/>
            <a:ext cx="2057400" cy="475488"/>
          </a:xfrm>
          <a:prstGeom prst="roundRect">
            <a:avLst>
              <a:gd name="adj" fmla="val 15385"/>
            </a:avLst>
          </a:prstGeom>
          <a:solidFill>
            <a:schemeClr val="bg1"/>
          </a:solidFill>
          <a:ln w="12700">
            <a:solidFill>
              <a:schemeClr val="accent1"/>
            </a:solidFill>
            <a:prstDash val="solid"/>
          </a:ln>
        </p:spPr>
      </p:sp>
      <p:sp>
        <p:nvSpPr>
          <p:cNvPr id="20" name="Text 18"/>
          <p:cNvSpPr txBox="1"/>
          <p:nvPr/>
        </p:nvSpPr>
        <p:spPr>
          <a:xfrm>
            <a:off x="9555480" y="4617720"/>
            <a:ext cx="2057400" cy="475488"/>
          </a:xfrm>
          <a:prstGeom prst="rect">
            <a:avLst/>
          </a:prstGeom>
          <a:noFill/>
          <a:ln/>
        </p:spPr>
        <p:txBody>
          <a:bodyPr wrap="square" lIns="0" tIns="0" rIns="0" bIns="0" rtlCol="0" anchor="ctr"/>
          <a:lstStyle/>
          <a:p>
            <a:pPr algn="ctr" indent="0" marL="0">
              <a:buNone/>
            </a:pPr>
            <a:r>
              <a:rPr lang="en-US" sz="1200" b="1" dirty="0">
                <a:solidFill>
                  <a:schemeClr val="accent3"/>
                </a:solidFill>
              </a:rPr>
              <a:t>drop ALL capabilities</a:t>
            </a:r>
            <a:endParaRPr lang="en-US" sz="1200" dirty="0"/>
          </a:p>
        </p:txBody>
      </p:sp>
      <p:sp>
        <p:nvSpPr>
          <p:cNvPr id="21" name="Shape 19"/>
          <p:cNvSpPr/>
          <p:nvPr/>
        </p:nvSpPr>
        <p:spPr>
          <a:xfrm>
            <a:off x="5166360" y="5257800"/>
            <a:ext cx="2057400" cy="475488"/>
          </a:xfrm>
          <a:prstGeom prst="roundRect">
            <a:avLst>
              <a:gd name="adj" fmla="val 15385"/>
            </a:avLst>
          </a:prstGeom>
          <a:solidFill>
            <a:schemeClr val="bg1"/>
          </a:solidFill>
          <a:ln w="12700">
            <a:solidFill>
              <a:schemeClr val="accent1"/>
            </a:solidFill>
            <a:prstDash val="solid"/>
          </a:ln>
        </p:spPr>
      </p:sp>
      <p:sp>
        <p:nvSpPr>
          <p:cNvPr id="22" name="Text 20"/>
          <p:cNvSpPr txBox="1"/>
          <p:nvPr/>
        </p:nvSpPr>
        <p:spPr>
          <a:xfrm>
            <a:off x="5166360" y="5257800"/>
            <a:ext cx="2057400" cy="475488"/>
          </a:xfrm>
          <a:prstGeom prst="rect">
            <a:avLst/>
          </a:prstGeom>
          <a:noFill/>
          <a:ln/>
        </p:spPr>
        <p:txBody>
          <a:bodyPr wrap="square" lIns="0" tIns="0" rIns="0" bIns="0" rtlCol="0" anchor="ctr"/>
          <a:lstStyle/>
          <a:p>
            <a:pPr algn="ctr" indent="0" marL="0">
              <a:buNone/>
            </a:pPr>
            <a:r>
              <a:rPr lang="en-US" sz="1200" b="1" dirty="0">
                <a:solidFill>
                  <a:schemeClr val="accent3"/>
                </a:solidFill>
              </a:rPr>
              <a:t>Pod Security: restricted</a:t>
            </a:r>
            <a:endParaRPr lang="en-US" sz="1200" dirty="0"/>
          </a:p>
        </p:txBody>
      </p:sp>
      <p:sp>
        <p:nvSpPr>
          <p:cNvPr id="23" name="Shape 21"/>
          <p:cNvSpPr/>
          <p:nvPr/>
        </p:nvSpPr>
        <p:spPr>
          <a:xfrm>
            <a:off x="7360920" y="5257800"/>
            <a:ext cx="2057400" cy="475488"/>
          </a:xfrm>
          <a:prstGeom prst="roundRect">
            <a:avLst>
              <a:gd name="adj" fmla="val 15385"/>
            </a:avLst>
          </a:prstGeom>
          <a:solidFill>
            <a:schemeClr val="bg1"/>
          </a:solidFill>
          <a:ln w="12700">
            <a:solidFill>
              <a:schemeClr val="accent1"/>
            </a:solidFill>
            <a:prstDash val="solid"/>
          </a:ln>
        </p:spPr>
      </p:sp>
      <p:sp>
        <p:nvSpPr>
          <p:cNvPr id="24" name="Text 22"/>
          <p:cNvSpPr txBox="1"/>
          <p:nvPr/>
        </p:nvSpPr>
        <p:spPr>
          <a:xfrm>
            <a:off x="7360920" y="5257800"/>
            <a:ext cx="2057400" cy="475488"/>
          </a:xfrm>
          <a:prstGeom prst="rect">
            <a:avLst/>
          </a:prstGeom>
          <a:noFill/>
          <a:ln/>
        </p:spPr>
        <p:txBody>
          <a:bodyPr wrap="square" lIns="0" tIns="0" rIns="0" bIns="0" rtlCol="0" anchor="ctr"/>
          <a:lstStyle/>
          <a:p>
            <a:pPr algn="ctr" indent="0" marL="0">
              <a:buNone/>
            </a:pPr>
            <a:r>
              <a:rPr lang="en-US" sz="1200" b="1" dirty="0">
                <a:solidFill>
                  <a:schemeClr val="accent3"/>
                </a:solidFill>
              </a:rPr>
              <a:t>no secrets in Git</a:t>
            </a:r>
            <a:endParaRPr lang="en-US" sz="1200" dirty="0"/>
          </a:p>
        </p:txBody>
      </p:sp>
      <p:sp>
        <p:nvSpPr>
          <p:cNvPr id="25" name="Shape 23"/>
          <p:cNvSpPr/>
          <p:nvPr/>
        </p:nvSpPr>
        <p:spPr>
          <a:xfrm>
            <a:off x="9555480" y="5257800"/>
            <a:ext cx="2057400" cy="475488"/>
          </a:xfrm>
          <a:prstGeom prst="roundRect">
            <a:avLst>
              <a:gd name="adj" fmla="val 15385"/>
            </a:avLst>
          </a:prstGeom>
          <a:solidFill>
            <a:schemeClr val="bg1"/>
          </a:solidFill>
          <a:ln w="12700">
            <a:solidFill>
              <a:schemeClr val="accent1"/>
            </a:solidFill>
            <a:prstDash val="solid"/>
          </a:ln>
        </p:spPr>
      </p:sp>
      <p:sp>
        <p:nvSpPr>
          <p:cNvPr id="26" name="Text 24"/>
          <p:cNvSpPr txBox="1"/>
          <p:nvPr/>
        </p:nvSpPr>
        <p:spPr>
          <a:xfrm>
            <a:off x="9555480" y="5257800"/>
            <a:ext cx="2057400" cy="475488"/>
          </a:xfrm>
          <a:prstGeom prst="rect">
            <a:avLst/>
          </a:prstGeom>
          <a:noFill/>
          <a:ln/>
        </p:spPr>
        <p:txBody>
          <a:bodyPr wrap="square" lIns="0" tIns="0" rIns="0" bIns="0" rtlCol="0" anchor="ctr"/>
          <a:lstStyle/>
          <a:p>
            <a:pPr algn="ctr" indent="0" marL="0">
              <a:buNone/>
            </a:pPr>
            <a:r>
              <a:rPr lang="en-US" sz="1200" b="1" dirty="0">
                <a:solidFill>
                  <a:schemeClr val="accent3"/>
                </a:solidFill>
              </a:rPr>
              <a:t>IRSA, not node IAM</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Infrastructure as Code: Terraform builds VPC + EKS</a:t>
            </a:r>
            <a:endParaRPr lang="en-US" sz="3200" dirty="0"/>
          </a:p>
        </p:txBody>
      </p:sp>
      <p:sp>
        <p:nvSpPr>
          <p:cNvPr id="3" name="Shape 1"/>
          <p:cNvSpPr/>
          <p:nvPr/>
        </p:nvSpPr>
        <p:spPr>
          <a:xfrm>
            <a:off x="548640" y="1371600"/>
            <a:ext cx="6766560" cy="4754880"/>
          </a:xfrm>
          <a:prstGeom prst="roundRect">
            <a:avLst>
              <a:gd name="adj" fmla="val 1538"/>
            </a:avLst>
          </a:prstGeom>
          <a:solidFill>
            <a:schemeClr val="bg1"/>
          </a:solidFill>
          <a:ln w="12700">
            <a:solidFill>
              <a:schemeClr val="accent2"/>
            </a:solidFill>
            <a:prstDash val="dash"/>
          </a:ln>
        </p:spPr>
      </p:sp>
      <p:sp>
        <p:nvSpPr>
          <p:cNvPr id="4" name="Text 2"/>
          <p:cNvSpPr txBox="1"/>
          <p:nvPr/>
        </p:nvSpPr>
        <p:spPr>
          <a:xfrm>
            <a:off x="731520" y="1463040"/>
            <a:ext cx="5486400" cy="274320"/>
          </a:xfrm>
          <a:prstGeom prst="rect">
            <a:avLst/>
          </a:prstGeom>
          <a:noFill/>
          <a:ln/>
        </p:spPr>
        <p:txBody>
          <a:bodyPr wrap="square" lIns="0" tIns="0" rIns="0" bIns="0" rtlCol="0" anchor="t"/>
          <a:lstStyle/>
          <a:p>
            <a:pPr indent="0" marL="0">
              <a:buNone/>
            </a:pPr>
            <a:r>
              <a:rPr lang="en-US" sz="1300" b="1" dirty="0">
                <a:solidFill>
                  <a:schemeClr val="accent2"/>
                </a:solidFill>
              </a:rPr>
              <a:t>VPC 10.20.0.0/16 · ap-south-1</a:t>
            </a:r>
            <a:endParaRPr lang="en-US" sz="1300" dirty="0"/>
          </a:p>
        </p:txBody>
      </p:sp>
      <p:sp>
        <p:nvSpPr>
          <p:cNvPr id="5" name="Shape 3"/>
          <p:cNvSpPr/>
          <p:nvPr/>
        </p:nvSpPr>
        <p:spPr>
          <a:xfrm>
            <a:off x="777240" y="1828800"/>
            <a:ext cx="3063240" cy="4114800"/>
          </a:xfrm>
          <a:prstGeom prst="roundRect">
            <a:avLst>
              <a:gd name="adj" fmla="val 2388"/>
            </a:avLst>
          </a:prstGeom>
          <a:solidFill>
            <a:schemeClr val="bg2"/>
          </a:solidFill>
          <a:ln/>
        </p:spPr>
      </p:sp>
      <p:sp>
        <p:nvSpPr>
          <p:cNvPr id="6" name="Text 4"/>
          <p:cNvSpPr txBox="1"/>
          <p:nvPr/>
        </p:nvSpPr>
        <p:spPr>
          <a:xfrm>
            <a:off x="914400" y="1901952"/>
            <a:ext cx="2743200" cy="274320"/>
          </a:xfrm>
          <a:prstGeom prst="rect">
            <a:avLst/>
          </a:prstGeom>
          <a:noFill/>
          <a:ln/>
        </p:spPr>
        <p:txBody>
          <a:bodyPr wrap="square" lIns="0" tIns="0" rIns="0" bIns="0" rtlCol="0" anchor="t"/>
          <a:lstStyle/>
          <a:p>
            <a:pPr indent="0" marL="0">
              <a:buNone/>
            </a:pPr>
            <a:r>
              <a:rPr lang="en-US" sz="1200" b="1" dirty="0">
                <a:solidFill>
                  <a:schemeClr val="accent4"/>
                </a:solidFill>
              </a:rPr>
              <a:t>ap-south-1a</a:t>
            </a:r>
            <a:endParaRPr lang="en-US" sz="1200" dirty="0"/>
          </a:p>
        </p:txBody>
      </p:sp>
      <p:sp>
        <p:nvSpPr>
          <p:cNvPr id="7" name="Shape 5"/>
          <p:cNvSpPr/>
          <p:nvPr/>
        </p:nvSpPr>
        <p:spPr>
          <a:xfrm>
            <a:off x="960120" y="2240280"/>
            <a:ext cx="2697480" cy="1463040"/>
          </a:xfrm>
          <a:prstGeom prst="roundRect">
            <a:avLst>
              <a:gd name="adj" fmla="val 5000"/>
            </a:avLst>
          </a:prstGeom>
          <a:solidFill>
            <a:schemeClr val="bg1"/>
          </a:solidFill>
          <a:ln w="12700">
            <a:solidFill>
              <a:schemeClr val="accent6"/>
            </a:solidFill>
            <a:prstDash val="solid"/>
          </a:ln>
        </p:spPr>
      </p:sp>
      <p:sp>
        <p:nvSpPr>
          <p:cNvPr id="8" name="Text 6"/>
          <p:cNvSpPr txBox="1"/>
          <p:nvPr/>
        </p:nvSpPr>
        <p:spPr>
          <a:xfrm>
            <a:off x="960120" y="2240280"/>
            <a:ext cx="2697480" cy="1463040"/>
          </a:xfrm>
          <a:prstGeom prst="rect">
            <a:avLst/>
          </a:prstGeom>
          <a:noFill/>
          <a:ln/>
        </p:spPr>
        <p:txBody>
          <a:bodyPr wrap="square" lIns="508" tIns="508" rIns="508" bIns="508" rtlCol="0" anchor="ctr"/>
          <a:lstStyle/>
          <a:p>
            <a:pPr algn="ctr" indent="0" marL="0">
              <a:buNone/>
            </a:pPr>
            <a:r>
              <a:rPr lang="en-US" sz="1200" b="1" dirty="0">
                <a:solidFill>
                  <a:schemeClr val="tx1"/>
                </a:solidFill>
              </a:rPr>
              <a:t>Public subnet 10.20.0.0/24</a:t>
            </a:r>
            <a:endParaRPr lang="en-US" sz="1200" dirty="0"/>
          </a:p>
          <a:p>
            <a:pPr algn="ctr" indent="0" marL="0">
              <a:buNone/>
            </a:pPr>
            <a:r>
              <a:rPr lang="en-US" sz="1100" dirty="0">
                <a:solidFill>
                  <a:schemeClr val="accent4"/>
                </a:solidFill>
              </a:rPr>
              <a:t>NAT Gateway · NLB node</a:t>
            </a:r>
            <a:endParaRPr lang="en-US" sz="1200" dirty="0"/>
          </a:p>
          <a:p>
            <a:pPr algn="ctr" indent="0" marL="0">
              <a:buNone/>
            </a:pPr>
            <a:r>
              <a:rPr lang="en-US" sz="1100" dirty="0">
                <a:solidFill>
                  <a:schemeClr val="accent4"/>
                </a:solidFill>
              </a:rPr>
              <a:t>tag kubernetes.io/role/elb</a:t>
            </a:r>
            <a:endParaRPr lang="en-US" sz="1200" dirty="0"/>
          </a:p>
        </p:txBody>
      </p:sp>
      <p:sp>
        <p:nvSpPr>
          <p:cNvPr id="9" name="Shape 7"/>
          <p:cNvSpPr/>
          <p:nvPr/>
        </p:nvSpPr>
        <p:spPr>
          <a:xfrm>
            <a:off x="960120" y="4206240"/>
            <a:ext cx="2697480" cy="1554480"/>
          </a:xfrm>
          <a:prstGeom prst="roundRect">
            <a:avLst>
              <a:gd name="adj" fmla="val 4706"/>
            </a:avLst>
          </a:prstGeom>
          <a:solidFill>
            <a:schemeClr val="bg1"/>
          </a:solidFill>
          <a:ln w="12700">
            <a:solidFill>
              <a:schemeClr val="accent1"/>
            </a:solidFill>
            <a:prstDash val="solid"/>
          </a:ln>
        </p:spPr>
      </p:sp>
      <p:sp>
        <p:nvSpPr>
          <p:cNvPr id="10" name="Text 8"/>
          <p:cNvSpPr txBox="1"/>
          <p:nvPr/>
        </p:nvSpPr>
        <p:spPr>
          <a:xfrm>
            <a:off x="960120" y="4206240"/>
            <a:ext cx="2697480" cy="1554480"/>
          </a:xfrm>
          <a:prstGeom prst="rect">
            <a:avLst/>
          </a:prstGeom>
          <a:noFill/>
          <a:ln/>
        </p:spPr>
        <p:txBody>
          <a:bodyPr wrap="square" lIns="508" tIns="508" rIns="508" bIns="508" rtlCol="0" anchor="ctr"/>
          <a:lstStyle/>
          <a:p>
            <a:pPr algn="ctr" indent="0" marL="0">
              <a:buNone/>
            </a:pPr>
            <a:r>
              <a:rPr lang="en-US" sz="1200" b="1" dirty="0">
                <a:solidFill>
                  <a:schemeClr val="tx1"/>
                </a:solidFill>
              </a:rPr>
              <a:t>Private subnet 10.20.10.0/24</a:t>
            </a:r>
            <a:endParaRPr lang="en-US" sz="1200" dirty="0"/>
          </a:p>
          <a:p>
            <a:pPr algn="ctr" indent="0" marL="0">
              <a:buNone/>
            </a:pPr>
            <a:r>
              <a:rPr lang="en-US" sz="1100" dirty="0">
                <a:solidFill>
                  <a:schemeClr val="accent4"/>
                </a:solidFill>
              </a:rPr>
              <a:t>EKS worker node</a:t>
            </a:r>
            <a:endParaRPr lang="en-US" sz="1200" dirty="0"/>
          </a:p>
          <a:p>
            <a:pPr algn="ctr" indent="0" marL="0">
              <a:buNone/>
            </a:pPr>
            <a:r>
              <a:rPr lang="en-US" sz="1100" dirty="0">
                <a:solidFill>
                  <a:schemeClr val="accent4"/>
                </a:solidFill>
              </a:rPr>
              <a:t>t3.medium · AL2023</a:t>
            </a:r>
            <a:endParaRPr lang="en-US" sz="1200" dirty="0"/>
          </a:p>
        </p:txBody>
      </p:sp>
      <p:sp>
        <p:nvSpPr>
          <p:cNvPr id="11" name="Shape 9"/>
          <p:cNvSpPr/>
          <p:nvPr/>
        </p:nvSpPr>
        <p:spPr>
          <a:xfrm>
            <a:off x="4069080" y="1828800"/>
            <a:ext cx="3063240" cy="4114800"/>
          </a:xfrm>
          <a:prstGeom prst="roundRect">
            <a:avLst>
              <a:gd name="adj" fmla="val 2388"/>
            </a:avLst>
          </a:prstGeom>
          <a:solidFill>
            <a:schemeClr val="bg2"/>
          </a:solidFill>
          <a:ln/>
        </p:spPr>
      </p:sp>
      <p:sp>
        <p:nvSpPr>
          <p:cNvPr id="12" name="Text 10"/>
          <p:cNvSpPr txBox="1"/>
          <p:nvPr/>
        </p:nvSpPr>
        <p:spPr>
          <a:xfrm>
            <a:off x="4206240" y="1901952"/>
            <a:ext cx="2743200" cy="274320"/>
          </a:xfrm>
          <a:prstGeom prst="rect">
            <a:avLst/>
          </a:prstGeom>
          <a:noFill/>
          <a:ln/>
        </p:spPr>
        <p:txBody>
          <a:bodyPr wrap="square" lIns="0" tIns="0" rIns="0" bIns="0" rtlCol="0" anchor="t"/>
          <a:lstStyle/>
          <a:p>
            <a:pPr indent="0" marL="0">
              <a:buNone/>
            </a:pPr>
            <a:r>
              <a:rPr lang="en-US" sz="1200" b="1" dirty="0">
                <a:solidFill>
                  <a:schemeClr val="accent4"/>
                </a:solidFill>
              </a:rPr>
              <a:t>ap-south-1b</a:t>
            </a:r>
            <a:endParaRPr lang="en-US" sz="1200" dirty="0"/>
          </a:p>
        </p:txBody>
      </p:sp>
      <p:sp>
        <p:nvSpPr>
          <p:cNvPr id="13" name="Shape 11"/>
          <p:cNvSpPr/>
          <p:nvPr/>
        </p:nvSpPr>
        <p:spPr>
          <a:xfrm>
            <a:off x="4251960" y="2240280"/>
            <a:ext cx="2697480" cy="1463040"/>
          </a:xfrm>
          <a:prstGeom prst="roundRect">
            <a:avLst>
              <a:gd name="adj" fmla="val 5000"/>
            </a:avLst>
          </a:prstGeom>
          <a:solidFill>
            <a:schemeClr val="bg1"/>
          </a:solidFill>
          <a:ln w="12700">
            <a:solidFill>
              <a:schemeClr val="accent6"/>
            </a:solidFill>
            <a:prstDash val="solid"/>
          </a:ln>
        </p:spPr>
      </p:sp>
      <p:sp>
        <p:nvSpPr>
          <p:cNvPr id="14" name="Text 12"/>
          <p:cNvSpPr txBox="1"/>
          <p:nvPr/>
        </p:nvSpPr>
        <p:spPr>
          <a:xfrm>
            <a:off x="4251960" y="2240280"/>
            <a:ext cx="2697480" cy="1463040"/>
          </a:xfrm>
          <a:prstGeom prst="rect">
            <a:avLst/>
          </a:prstGeom>
          <a:noFill/>
          <a:ln/>
        </p:spPr>
        <p:txBody>
          <a:bodyPr wrap="square" lIns="508" tIns="508" rIns="508" bIns="508" rtlCol="0" anchor="ctr"/>
          <a:lstStyle/>
          <a:p>
            <a:pPr algn="ctr" indent="0" marL="0">
              <a:buNone/>
            </a:pPr>
            <a:r>
              <a:rPr lang="en-US" sz="1200" b="1" dirty="0">
                <a:solidFill>
                  <a:schemeClr val="tx1"/>
                </a:solidFill>
              </a:rPr>
              <a:t>Public subnet 10.20.1.0/24</a:t>
            </a:r>
            <a:endParaRPr lang="en-US" sz="1200" dirty="0"/>
          </a:p>
          <a:p>
            <a:pPr algn="ctr" indent="0" marL="0">
              <a:buNone/>
            </a:pPr>
            <a:r>
              <a:rPr lang="en-US" sz="1100" dirty="0">
                <a:solidFill>
                  <a:schemeClr val="accent4"/>
                </a:solidFill>
              </a:rPr>
              <a:t>NLB node</a:t>
            </a:r>
            <a:endParaRPr lang="en-US" sz="1200" dirty="0"/>
          </a:p>
          <a:p>
            <a:pPr algn="ctr" indent="0" marL="0">
              <a:buNone/>
            </a:pPr>
            <a:r>
              <a:rPr lang="en-US" sz="1100" dirty="0">
                <a:solidFill>
                  <a:schemeClr val="accent4"/>
                </a:solidFill>
              </a:rPr>
              <a:t>tag kubernetes.io/role/elb</a:t>
            </a:r>
            <a:endParaRPr lang="en-US" sz="1200" dirty="0"/>
          </a:p>
        </p:txBody>
      </p:sp>
      <p:sp>
        <p:nvSpPr>
          <p:cNvPr id="15" name="Shape 13"/>
          <p:cNvSpPr/>
          <p:nvPr/>
        </p:nvSpPr>
        <p:spPr>
          <a:xfrm>
            <a:off x="4251960" y="4206240"/>
            <a:ext cx="2697480" cy="1554480"/>
          </a:xfrm>
          <a:prstGeom prst="roundRect">
            <a:avLst>
              <a:gd name="adj" fmla="val 4706"/>
            </a:avLst>
          </a:prstGeom>
          <a:solidFill>
            <a:schemeClr val="bg1"/>
          </a:solidFill>
          <a:ln w="12700">
            <a:solidFill>
              <a:schemeClr val="accent1"/>
            </a:solidFill>
            <a:prstDash val="solid"/>
          </a:ln>
        </p:spPr>
      </p:sp>
      <p:sp>
        <p:nvSpPr>
          <p:cNvPr id="16" name="Text 14"/>
          <p:cNvSpPr txBox="1"/>
          <p:nvPr/>
        </p:nvSpPr>
        <p:spPr>
          <a:xfrm>
            <a:off x="4251960" y="4206240"/>
            <a:ext cx="2697480" cy="1554480"/>
          </a:xfrm>
          <a:prstGeom prst="rect">
            <a:avLst/>
          </a:prstGeom>
          <a:noFill/>
          <a:ln/>
        </p:spPr>
        <p:txBody>
          <a:bodyPr wrap="square" lIns="508" tIns="508" rIns="508" bIns="508" rtlCol="0" anchor="ctr"/>
          <a:lstStyle/>
          <a:p>
            <a:pPr algn="ctr" indent="0" marL="0">
              <a:buNone/>
            </a:pPr>
            <a:r>
              <a:rPr lang="en-US" sz="1200" b="1" dirty="0">
                <a:solidFill>
                  <a:schemeClr val="tx1"/>
                </a:solidFill>
              </a:rPr>
              <a:t>Private subnet 10.20.11.0/24</a:t>
            </a:r>
            <a:endParaRPr lang="en-US" sz="1200" dirty="0"/>
          </a:p>
          <a:p>
            <a:pPr algn="ctr" indent="0" marL="0">
              <a:buNone/>
            </a:pPr>
            <a:r>
              <a:rPr lang="en-US" sz="1100" dirty="0">
                <a:solidFill>
                  <a:schemeClr val="accent4"/>
                </a:solidFill>
              </a:rPr>
              <a:t>EKS worker node</a:t>
            </a:r>
            <a:endParaRPr lang="en-US" sz="1200" dirty="0"/>
          </a:p>
          <a:p>
            <a:pPr algn="ctr" indent="0" marL="0">
              <a:buNone/>
            </a:pPr>
            <a:r>
              <a:rPr lang="en-US" sz="1100" dirty="0">
                <a:solidFill>
                  <a:schemeClr val="accent4"/>
                </a:solidFill>
              </a:rPr>
              <a:t>t3.medium · AL2023</a:t>
            </a:r>
            <a:endParaRPr lang="en-US" sz="1200" dirty="0"/>
          </a:p>
        </p:txBody>
      </p:sp>
      <p:sp>
        <p:nvSpPr>
          <p:cNvPr id="17" name="Text 15"/>
          <p:cNvSpPr txBox="1"/>
          <p:nvPr/>
        </p:nvSpPr>
        <p:spPr>
          <a:xfrm>
            <a:off x="7680960" y="1371600"/>
            <a:ext cx="3931920" cy="365760"/>
          </a:xfrm>
          <a:prstGeom prst="rect">
            <a:avLst/>
          </a:prstGeom>
          <a:noFill/>
          <a:ln/>
        </p:spPr>
        <p:txBody>
          <a:bodyPr wrap="square" lIns="0" tIns="0" rIns="0" bIns="0" rtlCol="0" anchor="t"/>
          <a:lstStyle/>
          <a:p>
            <a:pPr indent="0" marL="0">
              <a:buNone/>
            </a:pPr>
            <a:r>
              <a:rPr lang="en-US" sz="2000" b="1" dirty="0">
                <a:solidFill>
                  <a:schemeClr val="tx1"/>
                </a:solidFill>
              </a:rPr>
              <a:t>Terraform files</a:t>
            </a:r>
            <a:endParaRPr lang="en-US" sz="2000" dirty="0"/>
          </a:p>
        </p:txBody>
      </p:sp>
      <p:sp>
        <p:nvSpPr>
          <p:cNvPr id="18" name="Text 16"/>
          <p:cNvSpPr txBox="1"/>
          <p:nvPr/>
        </p:nvSpPr>
        <p:spPr>
          <a:xfrm>
            <a:off x="7680960" y="1783080"/>
            <a:ext cx="397764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main.tf: VPC, EKS, node group, add-ons</a:t>
            </a:r>
            <a:endParaRPr lang="en-US" sz="1400" dirty="0"/>
          </a:p>
          <a:p>
            <a:pPr marL="342900" indent="-342900">
              <a:spcAft>
                <a:spcPts val="600"/>
              </a:spcAft>
              <a:buSzPct val="100000"/>
              <a:buChar char="•"/>
            </a:pPr>
            <a:r>
              <a:rPr lang="en-US" sz="1400" dirty="0">
                <a:solidFill>
                  <a:schemeClr val="tx2"/>
                </a:solidFill>
              </a:rPr>
              <a:t>variables.tf / outputs.tf: inputs, kubectl command</a:t>
            </a:r>
            <a:endParaRPr lang="en-US" sz="1400" dirty="0"/>
          </a:p>
          <a:p>
            <a:pPr marL="342900" indent="-342900">
              <a:spcAft>
                <a:spcPts val="600"/>
              </a:spcAft>
              <a:buSzPct val="100000"/>
              <a:buChar char="•"/>
            </a:pPr>
            <a:r>
              <a:rPr lang="en-US" sz="1400" dirty="0">
                <a:solidFill>
                  <a:schemeClr val="tx2"/>
                </a:solidFill>
              </a:rPr>
              <a:t>IRSA role for the EBS CSI driver (Postgres volume)</a:t>
            </a:r>
            <a:endParaRPr lang="en-US" sz="1400" dirty="0"/>
          </a:p>
          <a:p>
            <a:pPr marL="342900" indent="-342900">
              <a:spcAft>
                <a:spcPts val="600"/>
              </a:spcAft>
              <a:buSzPct val="100000"/>
              <a:buChar char="•"/>
            </a:pPr>
            <a:r>
              <a:rPr lang="en-US" sz="1400" dirty="0">
                <a:solidFill>
                  <a:schemeClr val="tx2"/>
                </a:solidFill>
              </a:rPr>
              <a:t>terraform.tfvars.example: no credentials committed</a:t>
            </a:r>
            <a:endParaRPr lang="en-US" sz="1400" dirty="0"/>
          </a:p>
        </p:txBody>
      </p:sp>
      <p:sp>
        <p:nvSpPr>
          <p:cNvPr id="19" name="Shape 17"/>
          <p:cNvSpPr/>
          <p:nvPr/>
        </p:nvSpPr>
        <p:spPr>
          <a:xfrm>
            <a:off x="7680960" y="3840480"/>
            <a:ext cx="3977640" cy="1051560"/>
          </a:xfrm>
          <a:prstGeom prst="roundRect">
            <a:avLst>
              <a:gd name="adj" fmla="val 6957"/>
            </a:avLst>
          </a:prstGeom>
          <a:solidFill>
            <a:schemeClr val="tx1"/>
          </a:solidFill>
          <a:ln/>
        </p:spPr>
      </p:sp>
      <p:sp>
        <p:nvSpPr>
          <p:cNvPr id="20" name="Text 18"/>
          <p:cNvSpPr txBox="1"/>
          <p:nvPr/>
        </p:nvSpPr>
        <p:spPr>
          <a:xfrm>
            <a:off x="7863840" y="3913632"/>
            <a:ext cx="3657600" cy="91440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terraform init → plan → apply</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aws eks update-kubeconfig</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terraform destroy</a:t>
            </a:r>
            <a:endParaRPr lang="en-US" sz="1300" dirty="0"/>
          </a:p>
        </p:txBody>
      </p:sp>
      <p:sp>
        <p:nvSpPr>
          <p:cNvPr id="21" name="Shape 19"/>
          <p:cNvSpPr/>
          <p:nvPr/>
        </p:nvSpPr>
        <p:spPr>
          <a:xfrm>
            <a:off x="7680960" y="5074920"/>
            <a:ext cx="3977640" cy="1051560"/>
          </a:xfrm>
          <a:prstGeom prst="roundRect">
            <a:avLst>
              <a:gd name="adj" fmla="val 6957"/>
            </a:avLst>
          </a:prstGeom>
          <a:solidFill>
            <a:schemeClr val="bg2"/>
          </a:solidFill>
          <a:ln/>
        </p:spPr>
      </p:sp>
      <p:sp>
        <p:nvSpPr>
          <p:cNvPr id="22" name="Text 20"/>
          <p:cNvSpPr txBox="1"/>
          <p:nvPr/>
        </p:nvSpPr>
        <p:spPr>
          <a:xfrm>
            <a:off x="7863840" y="5120640"/>
            <a:ext cx="3657600" cy="960120"/>
          </a:xfrm>
          <a:prstGeom prst="rect">
            <a:avLst/>
          </a:prstGeom>
          <a:noFill/>
          <a:ln/>
        </p:spPr>
        <p:txBody>
          <a:bodyPr wrap="square" lIns="0" tIns="0" rIns="0" bIns="0" rtlCol="0" anchor="ctr"/>
          <a:lstStyle/>
          <a:p>
            <a:pPr indent="0" marL="0">
              <a:buNone/>
            </a:pPr>
            <a:r>
              <a:rPr lang="en-US" sz="2200" b="1" dirty="0">
                <a:solidFill>
                  <a:schemeClr val="accent2"/>
                </a:solidFill>
              </a:rPr>
              <a:t>≈ $0.30 / hour</a:t>
            </a:r>
            <a:endParaRPr lang="en-US" sz="1300" dirty="0"/>
          </a:p>
          <a:p>
            <a:pPr indent="0" marL="0">
              <a:buNone/>
            </a:pPr>
            <a:r>
              <a:rPr lang="en-US" sz="1300" dirty="0">
                <a:solidFill>
                  <a:schemeClr val="tx2"/>
                </a:solidFill>
              </a:rPr>
              <a:t>EKS + 2 nodes + NAT + NLB. Destroyed the same day.</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Kubernetes + Helm: one chart, autoscaling backend</a:t>
            </a:r>
            <a:endParaRPr lang="en-US" sz="3200" dirty="0"/>
          </a:p>
        </p:txBody>
      </p:sp>
      <p:sp>
        <p:nvSpPr>
          <p:cNvPr id="3" name="Shape 1"/>
          <p:cNvSpPr/>
          <p:nvPr/>
        </p:nvSpPr>
        <p:spPr>
          <a:xfrm>
            <a:off x="548640" y="1371600"/>
            <a:ext cx="1737360" cy="868680"/>
          </a:xfrm>
          <a:prstGeom prst="roundRect">
            <a:avLst>
              <a:gd name="adj" fmla="val 8421"/>
            </a:avLst>
          </a:prstGeom>
          <a:solidFill>
            <a:schemeClr val="bg2"/>
          </a:solidFill>
          <a:ln/>
        </p:spPr>
      </p:sp>
      <p:sp>
        <p:nvSpPr>
          <p:cNvPr id="4" name="Text 2"/>
          <p:cNvSpPr txBox="1"/>
          <p:nvPr/>
        </p:nvSpPr>
        <p:spPr>
          <a:xfrm>
            <a:off x="640080" y="1371600"/>
            <a:ext cx="1554480" cy="868680"/>
          </a:xfrm>
          <a:prstGeom prst="rect">
            <a:avLst/>
          </a:prstGeom>
          <a:noFill/>
          <a:ln/>
        </p:spPr>
        <p:txBody>
          <a:bodyPr wrap="square" lIns="0" tIns="0" rIns="0" bIns="0" rtlCol="0" anchor="ctr"/>
          <a:lstStyle/>
          <a:p>
            <a:pPr algn="ctr" indent="0" marL="0">
              <a:buNone/>
            </a:pPr>
            <a:r>
              <a:rPr lang="en-US" sz="1300" b="1" dirty="0">
                <a:solidFill>
                  <a:schemeClr val="tx1"/>
                </a:solidFill>
              </a:rPr>
              <a:t>Deployment</a:t>
            </a:r>
            <a:endParaRPr lang="en-US" sz="1400" dirty="0"/>
          </a:p>
          <a:p>
            <a:pPr algn="ctr" indent="0" marL="0">
              <a:buNone/>
            </a:pPr>
            <a:r>
              <a:rPr lang="en-US" sz="1100" dirty="0">
                <a:solidFill>
                  <a:schemeClr val="accent4"/>
                </a:solidFill>
              </a:rPr>
              <a:t>backend · 2–6 pods</a:t>
            </a:r>
            <a:endParaRPr lang="en-US" sz="1400" dirty="0"/>
          </a:p>
        </p:txBody>
      </p:sp>
      <p:sp>
        <p:nvSpPr>
          <p:cNvPr id="5" name="Shape 3"/>
          <p:cNvSpPr/>
          <p:nvPr/>
        </p:nvSpPr>
        <p:spPr>
          <a:xfrm>
            <a:off x="2423160" y="1371600"/>
            <a:ext cx="1737360" cy="868680"/>
          </a:xfrm>
          <a:prstGeom prst="roundRect">
            <a:avLst>
              <a:gd name="adj" fmla="val 8421"/>
            </a:avLst>
          </a:prstGeom>
          <a:solidFill>
            <a:schemeClr val="bg2"/>
          </a:solidFill>
          <a:ln/>
        </p:spPr>
      </p:sp>
      <p:sp>
        <p:nvSpPr>
          <p:cNvPr id="6" name="Text 4"/>
          <p:cNvSpPr txBox="1"/>
          <p:nvPr/>
        </p:nvSpPr>
        <p:spPr>
          <a:xfrm>
            <a:off x="2514600" y="1371600"/>
            <a:ext cx="1554480" cy="868680"/>
          </a:xfrm>
          <a:prstGeom prst="rect">
            <a:avLst/>
          </a:prstGeom>
          <a:noFill/>
          <a:ln/>
        </p:spPr>
        <p:txBody>
          <a:bodyPr wrap="square" lIns="0" tIns="0" rIns="0" bIns="0" rtlCol="0" anchor="ctr"/>
          <a:lstStyle/>
          <a:p>
            <a:pPr algn="ctr" indent="0" marL="0">
              <a:buNone/>
            </a:pPr>
            <a:r>
              <a:rPr lang="en-US" sz="1300" b="1" dirty="0">
                <a:solidFill>
                  <a:schemeClr val="tx1"/>
                </a:solidFill>
              </a:rPr>
              <a:t>Deployment</a:t>
            </a:r>
            <a:endParaRPr lang="en-US" sz="1400" dirty="0"/>
          </a:p>
          <a:p>
            <a:pPr algn="ctr" indent="0" marL="0">
              <a:buNone/>
            </a:pPr>
            <a:r>
              <a:rPr lang="en-US" sz="1100" dirty="0">
                <a:solidFill>
                  <a:schemeClr val="accent4"/>
                </a:solidFill>
              </a:rPr>
              <a:t>frontend · 2 pods</a:t>
            </a:r>
            <a:endParaRPr lang="en-US" sz="1400" dirty="0"/>
          </a:p>
        </p:txBody>
      </p:sp>
      <p:sp>
        <p:nvSpPr>
          <p:cNvPr id="7" name="Shape 5"/>
          <p:cNvSpPr/>
          <p:nvPr/>
        </p:nvSpPr>
        <p:spPr>
          <a:xfrm>
            <a:off x="4297680" y="1371600"/>
            <a:ext cx="1737360" cy="868680"/>
          </a:xfrm>
          <a:prstGeom prst="roundRect">
            <a:avLst>
              <a:gd name="adj" fmla="val 8421"/>
            </a:avLst>
          </a:prstGeom>
          <a:solidFill>
            <a:schemeClr val="bg2"/>
          </a:solidFill>
          <a:ln/>
        </p:spPr>
      </p:sp>
      <p:sp>
        <p:nvSpPr>
          <p:cNvPr id="8" name="Text 6"/>
          <p:cNvSpPr txBox="1"/>
          <p:nvPr/>
        </p:nvSpPr>
        <p:spPr>
          <a:xfrm>
            <a:off x="4389120" y="1371600"/>
            <a:ext cx="1554480" cy="868680"/>
          </a:xfrm>
          <a:prstGeom prst="rect">
            <a:avLst/>
          </a:prstGeom>
          <a:noFill/>
          <a:ln/>
        </p:spPr>
        <p:txBody>
          <a:bodyPr wrap="square" lIns="0" tIns="0" rIns="0" bIns="0" rtlCol="0" anchor="ctr"/>
          <a:lstStyle/>
          <a:p>
            <a:pPr algn="ctr" indent="0" marL="0">
              <a:buNone/>
            </a:pPr>
            <a:r>
              <a:rPr lang="en-US" sz="1300" b="1" dirty="0">
                <a:solidFill>
                  <a:schemeClr val="tx1"/>
                </a:solidFill>
              </a:rPr>
              <a:t>StatefulSet</a:t>
            </a:r>
            <a:endParaRPr lang="en-US" sz="1400" dirty="0"/>
          </a:p>
          <a:p>
            <a:pPr algn="ctr" indent="0" marL="0">
              <a:buNone/>
            </a:pPr>
            <a:r>
              <a:rPr lang="en-US" sz="1100" dirty="0">
                <a:solidFill>
                  <a:schemeClr val="accent4"/>
                </a:solidFill>
              </a:rPr>
              <a:t>PostgreSQL + PVC</a:t>
            </a:r>
            <a:endParaRPr lang="en-US" sz="1400" dirty="0"/>
          </a:p>
        </p:txBody>
      </p:sp>
      <p:sp>
        <p:nvSpPr>
          <p:cNvPr id="9" name="Shape 7"/>
          <p:cNvSpPr/>
          <p:nvPr/>
        </p:nvSpPr>
        <p:spPr>
          <a:xfrm>
            <a:off x="548640" y="2395728"/>
            <a:ext cx="1737360" cy="868680"/>
          </a:xfrm>
          <a:prstGeom prst="roundRect">
            <a:avLst>
              <a:gd name="adj" fmla="val 8421"/>
            </a:avLst>
          </a:prstGeom>
          <a:solidFill>
            <a:schemeClr val="bg2"/>
          </a:solidFill>
          <a:ln/>
        </p:spPr>
      </p:sp>
      <p:sp>
        <p:nvSpPr>
          <p:cNvPr id="10" name="Text 8"/>
          <p:cNvSpPr txBox="1"/>
          <p:nvPr/>
        </p:nvSpPr>
        <p:spPr>
          <a:xfrm>
            <a:off x="640080" y="2395728"/>
            <a:ext cx="1554480" cy="868680"/>
          </a:xfrm>
          <a:prstGeom prst="rect">
            <a:avLst/>
          </a:prstGeom>
          <a:noFill/>
          <a:ln/>
        </p:spPr>
        <p:txBody>
          <a:bodyPr wrap="square" lIns="0" tIns="0" rIns="0" bIns="0" rtlCol="0" anchor="ctr"/>
          <a:lstStyle/>
          <a:p>
            <a:pPr algn="ctr" indent="0" marL="0">
              <a:buNone/>
            </a:pPr>
            <a:r>
              <a:rPr lang="en-US" sz="1300" b="1" dirty="0">
                <a:solidFill>
                  <a:schemeClr val="tx1"/>
                </a:solidFill>
              </a:rPr>
              <a:t>Service ×3</a:t>
            </a:r>
            <a:endParaRPr lang="en-US" sz="1400" dirty="0"/>
          </a:p>
          <a:p>
            <a:pPr algn="ctr" indent="0" marL="0">
              <a:buNone/>
            </a:pPr>
            <a:r>
              <a:rPr lang="en-US" sz="1100" dirty="0">
                <a:solidFill>
                  <a:schemeClr val="accent4"/>
                </a:solidFill>
              </a:rPr>
              <a:t>ClusterIP</a:t>
            </a:r>
            <a:endParaRPr lang="en-US" sz="1400" dirty="0"/>
          </a:p>
        </p:txBody>
      </p:sp>
      <p:sp>
        <p:nvSpPr>
          <p:cNvPr id="11" name="Shape 9"/>
          <p:cNvSpPr/>
          <p:nvPr/>
        </p:nvSpPr>
        <p:spPr>
          <a:xfrm>
            <a:off x="2423160" y="2395728"/>
            <a:ext cx="1737360" cy="868680"/>
          </a:xfrm>
          <a:prstGeom prst="roundRect">
            <a:avLst>
              <a:gd name="adj" fmla="val 8421"/>
            </a:avLst>
          </a:prstGeom>
          <a:solidFill>
            <a:schemeClr val="bg2"/>
          </a:solidFill>
          <a:ln/>
        </p:spPr>
      </p:sp>
      <p:sp>
        <p:nvSpPr>
          <p:cNvPr id="12" name="Text 10"/>
          <p:cNvSpPr txBox="1"/>
          <p:nvPr/>
        </p:nvSpPr>
        <p:spPr>
          <a:xfrm>
            <a:off x="2514600" y="2395728"/>
            <a:ext cx="1554480" cy="868680"/>
          </a:xfrm>
          <a:prstGeom prst="rect">
            <a:avLst/>
          </a:prstGeom>
          <a:noFill/>
          <a:ln/>
        </p:spPr>
        <p:txBody>
          <a:bodyPr wrap="square" lIns="0" tIns="0" rIns="0" bIns="0" rtlCol="0" anchor="ctr"/>
          <a:lstStyle/>
          <a:p>
            <a:pPr algn="ctr" indent="0" marL="0">
              <a:buNone/>
            </a:pPr>
            <a:r>
              <a:rPr lang="en-US" sz="1300" b="1" dirty="0">
                <a:solidFill>
                  <a:schemeClr val="tx1"/>
                </a:solidFill>
              </a:rPr>
              <a:t>Ingress</a:t>
            </a:r>
            <a:endParaRPr lang="en-US" sz="1400" dirty="0"/>
          </a:p>
          <a:p>
            <a:pPr algn="ctr" indent="0" marL="0">
              <a:buNone/>
            </a:pPr>
            <a:r>
              <a:rPr lang="en-US" sz="1100" dirty="0">
                <a:solidFill>
                  <a:schemeClr val="accent4"/>
                </a:solidFill>
              </a:rPr>
              <a:t>/ → FE · /api → BE</a:t>
            </a:r>
            <a:endParaRPr lang="en-US" sz="1400" dirty="0"/>
          </a:p>
        </p:txBody>
      </p:sp>
      <p:sp>
        <p:nvSpPr>
          <p:cNvPr id="13" name="Shape 11"/>
          <p:cNvSpPr/>
          <p:nvPr/>
        </p:nvSpPr>
        <p:spPr>
          <a:xfrm>
            <a:off x="4297680" y="2395728"/>
            <a:ext cx="1737360" cy="868680"/>
          </a:xfrm>
          <a:prstGeom prst="roundRect">
            <a:avLst>
              <a:gd name="adj" fmla="val 8421"/>
            </a:avLst>
          </a:prstGeom>
          <a:solidFill>
            <a:schemeClr val="bg2"/>
          </a:solidFill>
          <a:ln/>
        </p:spPr>
      </p:sp>
      <p:sp>
        <p:nvSpPr>
          <p:cNvPr id="14" name="Text 12"/>
          <p:cNvSpPr txBox="1"/>
          <p:nvPr/>
        </p:nvSpPr>
        <p:spPr>
          <a:xfrm>
            <a:off x="4389120" y="2395728"/>
            <a:ext cx="1554480" cy="868680"/>
          </a:xfrm>
          <a:prstGeom prst="rect">
            <a:avLst/>
          </a:prstGeom>
          <a:noFill/>
          <a:ln/>
        </p:spPr>
        <p:txBody>
          <a:bodyPr wrap="square" lIns="0" tIns="0" rIns="0" bIns="0" rtlCol="0" anchor="ctr"/>
          <a:lstStyle/>
          <a:p>
            <a:pPr algn="ctr" indent="0" marL="0">
              <a:buNone/>
            </a:pPr>
            <a:r>
              <a:rPr lang="en-US" sz="1300" b="1" dirty="0">
                <a:solidFill>
                  <a:schemeClr val="tx1"/>
                </a:solidFill>
              </a:rPr>
              <a:t>HPA</a:t>
            </a:r>
            <a:endParaRPr lang="en-US" sz="1400" dirty="0"/>
          </a:p>
          <a:p>
            <a:pPr algn="ctr" indent="0" marL="0">
              <a:buNone/>
            </a:pPr>
            <a:r>
              <a:rPr lang="en-US" sz="1100" dirty="0">
                <a:solidFill>
                  <a:schemeClr val="accent4"/>
                </a:solidFill>
              </a:rPr>
              <a:t>CPU 60% target</a:t>
            </a:r>
            <a:endParaRPr lang="en-US" sz="1400" dirty="0"/>
          </a:p>
        </p:txBody>
      </p:sp>
      <p:sp>
        <p:nvSpPr>
          <p:cNvPr id="15" name="Shape 13"/>
          <p:cNvSpPr/>
          <p:nvPr/>
        </p:nvSpPr>
        <p:spPr>
          <a:xfrm>
            <a:off x="548640" y="3419856"/>
            <a:ext cx="1737360" cy="868680"/>
          </a:xfrm>
          <a:prstGeom prst="roundRect">
            <a:avLst>
              <a:gd name="adj" fmla="val 8421"/>
            </a:avLst>
          </a:prstGeom>
          <a:solidFill>
            <a:schemeClr val="bg2"/>
          </a:solidFill>
          <a:ln/>
        </p:spPr>
      </p:sp>
      <p:sp>
        <p:nvSpPr>
          <p:cNvPr id="16" name="Text 14"/>
          <p:cNvSpPr txBox="1"/>
          <p:nvPr/>
        </p:nvSpPr>
        <p:spPr>
          <a:xfrm>
            <a:off x="640080" y="3419856"/>
            <a:ext cx="1554480" cy="868680"/>
          </a:xfrm>
          <a:prstGeom prst="rect">
            <a:avLst/>
          </a:prstGeom>
          <a:noFill/>
          <a:ln/>
        </p:spPr>
        <p:txBody>
          <a:bodyPr wrap="square" lIns="0" tIns="0" rIns="0" bIns="0" rtlCol="0" anchor="ctr"/>
          <a:lstStyle/>
          <a:p>
            <a:pPr algn="ctr" indent="0" marL="0">
              <a:buNone/>
            </a:pPr>
            <a:r>
              <a:rPr lang="en-US" sz="1300" b="1" dirty="0">
                <a:solidFill>
                  <a:schemeClr val="tx1"/>
                </a:solidFill>
              </a:rPr>
              <a:t>PDB</a:t>
            </a:r>
            <a:endParaRPr lang="en-US" sz="1400" dirty="0"/>
          </a:p>
          <a:p>
            <a:pPr algn="ctr" indent="0" marL="0">
              <a:buNone/>
            </a:pPr>
            <a:r>
              <a:rPr lang="en-US" sz="1100" dirty="0">
                <a:solidFill>
                  <a:schemeClr val="accent4"/>
                </a:solidFill>
              </a:rPr>
              <a:t>minAvailable 1</a:t>
            </a:r>
            <a:endParaRPr lang="en-US" sz="1400" dirty="0"/>
          </a:p>
        </p:txBody>
      </p:sp>
      <p:sp>
        <p:nvSpPr>
          <p:cNvPr id="17" name="Shape 15"/>
          <p:cNvSpPr/>
          <p:nvPr/>
        </p:nvSpPr>
        <p:spPr>
          <a:xfrm>
            <a:off x="2423160" y="3419856"/>
            <a:ext cx="1737360" cy="868680"/>
          </a:xfrm>
          <a:prstGeom prst="roundRect">
            <a:avLst>
              <a:gd name="adj" fmla="val 8421"/>
            </a:avLst>
          </a:prstGeom>
          <a:solidFill>
            <a:schemeClr val="bg2"/>
          </a:solidFill>
          <a:ln/>
        </p:spPr>
      </p:sp>
      <p:sp>
        <p:nvSpPr>
          <p:cNvPr id="18" name="Text 16"/>
          <p:cNvSpPr txBox="1"/>
          <p:nvPr/>
        </p:nvSpPr>
        <p:spPr>
          <a:xfrm>
            <a:off x="2514600" y="3419856"/>
            <a:ext cx="1554480" cy="868680"/>
          </a:xfrm>
          <a:prstGeom prst="rect">
            <a:avLst/>
          </a:prstGeom>
          <a:noFill/>
          <a:ln/>
        </p:spPr>
        <p:txBody>
          <a:bodyPr wrap="square" lIns="0" tIns="0" rIns="0" bIns="0" rtlCol="0" anchor="ctr"/>
          <a:lstStyle/>
          <a:p>
            <a:pPr algn="ctr" indent="0" marL="0">
              <a:buNone/>
            </a:pPr>
            <a:r>
              <a:rPr lang="en-US" sz="1300" b="1" dirty="0">
                <a:solidFill>
                  <a:schemeClr val="tx1"/>
                </a:solidFill>
              </a:rPr>
              <a:t>ServiceMonitor</a:t>
            </a:r>
            <a:endParaRPr lang="en-US" sz="1400" dirty="0"/>
          </a:p>
          <a:p>
            <a:pPr algn="ctr" indent="0" marL="0">
              <a:buNone/>
            </a:pPr>
            <a:r>
              <a:rPr lang="en-US" sz="1100" dirty="0">
                <a:solidFill>
                  <a:schemeClr val="accent4"/>
                </a:solidFill>
              </a:rPr>
              <a:t>Prometheus scrape</a:t>
            </a:r>
            <a:endParaRPr lang="en-US" sz="1400" dirty="0"/>
          </a:p>
        </p:txBody>
      </p:sp>
      <p:sp>
        <p:nvSpPr>
          <p:cNvPr id="19" name="Shape 17"/>
          <p:cNvSpPr/>
          <p:nvPr/>
        </p:nvSpPr>
        <p:spPr>
          <a:xfrm>
            <a:off x="4297680" y="3419856"/>
            <a:ext cx="1737360" cy="868680"/>
          </a:xfrm>
          <a:prstGeom prst="roundRect">
            <a:avLst>
              <a:gd name="adj" fmla="val 8421"/>
            </a:avLst>
          </a:prstGeom>
          <a:solidFill>
            <a:schemeClr val="bg2"/>
          </a:solidFill>
          <a:ln/>
        </p:spPr>
      </p:sp>
      <p:sp>
        <p:nvSpPr>
          <p:cNvPr id="20" name="Text 18"/>
          <p:cNvSpPr txBox="1"/>
          <p:nvPr/>
        </p:nvSpPr>
        <p:spPr>
          <a:xfrm>
            <a:off x="4389120" y="3419856"/>
            <a:ext cx="1554480" cy="868680"/>
          </a:xfrm>
          <a:prstGeom prst="rect">
            <a:avLst/>
          </a:prstGeom>
          <a:noFill/>
          <a:ln/>
        </p:spPr>
        <p:txBody>
          <a:bodyPr wrap="square" lIns="0" tIns="0" rIns="0" bIns="0" rtlCol="0" anchor="ctr"/>
          <a:lstStyle/>
          <a:p>
            <a:pPr algn="ctr" indent="0" marL="0">
              <a:buNone/>
            </a:pPr>
            <a:r>
              <a:rPr lang="en-US" sz="1300" b="1" dirty="0">
                <a:solidFill>
                  <a:schemeClr val="tx1"/>
                </a:solidFill>
              </a:rPr>
              <a:t>PrometheusRule</a:t>
            </a:r>
            <a:endParaRPr lang="en-US" sz="1400" dirty="0"/>
          </a:p>
          <a:p>
            <a:pPr algn="ctr" indent="0" marL="0">
              <a:buNone/>
            </a:pPr>
            <a:r>
              <a:rPr lang="en-US" sz="1100" dirty="0">
                <a:solidFill>
                  <a:schemeClr val="accent4"/>
                </a:solidFill>
              </a:rPr>
              <a:t>3 alerts</a:t>
            </a:r>
            <a:endParaRPr lang="en-US" sz="1400" dirty="0"/>
          </a:p>
        </p:txBody>
      </p:sp>
      <p:sp>
        <p:nvSpPr>
          <p:cNvPr id="21" name="Shape 19"/>
          <p:cNvSpPr/>
          <p:nvPr/>
        </p:nvSpPr>
        <p:spPr>
          <a:xfrm>
            <a:off x="548640" y="4443984"/>
            <a:ext cx="1737360" cy="868680"/>
          </a:xfrm>
          <a:prstGeom prst="roundRect">
            <a:avLst>
              <a:gd name="adj" fmla="val 8421"/>
            </a:avLst>
          </a:prstGeom>
          <a:solidFill>
            <a:schemeClr val="bg2"/>
          </a:solidFill>
          <a:ln/>
        </p:spPr>
      </p:sp>
      <p:sp>
        <p:nvSpPr>
          <p:cNvPr id="22" name="Text 20"/>
          <p:cNvSpPr txBox="1"/>
          <p:nvPr/>
        </p:nvSpPr>
        <p:spPr>
          <a:xfrm>
            <a:off x="640080" y="4443984"/>
            <a:ext cx="1554480" cy="868680"/>
          </a:xfrm>
          <a:prstGeom prst="rect">
            <a:avLst/>
          </a:prstGeom>
          <a:noFill/>
          <a:ln/>
        </p:spPr>
        <p:txBody>
          <a:bodyPr wrap="square" lIns="0" tIns="0" rIns="0" bIns="0" rtlCol="0" anchor="ctr"/>
          <a:lstStyle/>
          <a:p>
            <a:pPr algn="ctr" indent="0" marL="0">
              <a:buNone/>
            </a:pPr>
            <a:r>
              <a:rPr lang="en-US" sz="1300" b="1" dirty="0">
                <a:solidFill>
                  <a:schemeClr val="tx1"/>
                </a:solidFill>
              </a:rPr>
              <a:t>ConfigMap</a:t>
            </a:r>
            <a:endParaRPr lang="en-US" sz="1400" dirty="0"/>
          </a:p>
          <a:p>
            <a:pPr algn="ctr" indent="0" marL="0">
              <a:buNone/>
            </a:pPr>
            <a:r>
              <a:rPr lang="en-US" sz="1100" dirty="0">
                <a:solidFill>
                  <a:schemeClr val="accent4"/>
                </a:solidFill>
              </a:rPr>
              <a:t>Grafana dashboard</a:t>
            </a:r>
            <a:endParaRPr lang="en-US" sz="1400" dirty="0"/>
          </a:p>
        </p:txBody>
      </p:sp>
      <p:sp>
        <p:nvSpPr>
          <p:cNvPr id="23" name="Shape 21"/>
          <p:cNvSpPr/>
          <p:nvPr/>
        </p:nvSpPr>
        <p:spPr>
          <a:xfrm>
            <a:off x="2423160" y="4443984"/>
            <a:ext cx="1737360" cy="868680"/>
          </a:xfrm>
          <a:prstGeom prst="roundRect">
            <a:avLst>
              <a:gd name="adj" fmla="val 8421"/>
            </a:avLst>
          </a:prstGeom>
          <a:solidFill>
            <a:schemeClr val="bg2"/>
          </a:solidFill>
          <a:ln/>
        </p:spPr>
      </p:sp>
      <p:sp>
        <p:nvSpPr>
          <p:cNvPr id="24" name="Text 22"/>
          <p:cNvSpPr txBox="1"/>
          <p:nvPr/>
        </p:nvSpPr>
        <p:spPr>
          <a:xfrm>
            <a:off x="2514600" y="4443984"/>
            <a:ext cx="1554480" cy="868680"/>
          </a:xfrm>
          <a:prstGeom prst="rect">
            <a:avLst/>
          </a:prstGeom>
          <a:noFill/>
          <a:ln/>
        </p:spPr>
        <p:txBody>
          <a:bodyPr wrap="square" lIns="0" tIns="0" rIns="0" bIns="0" rtlCol="0" anchor="ctr"/>
          <a:lstStyle/>
          <a:p>
            <a:pPr algn="ctr" indent="0" marL="0">
              <a:buNone/>
            </a:pPr>
            <a:r>
              <a:rPr lang="en-US" sz="1300" b="1" dirty="0">
                <a:solidFill>
                  <a:schemeClr val="tx1"/>
                </a:solidFill>
              </a:rPr>
              <a:t>Secret + ConfigMap</a:t>
            </a:r>
            <a:endParaRPr lang="en-US" sz="1400" dirty="0"/>
          </a:p>
          <a:p>
            <a:pPr algn="ctr" indent="0" marL="0">
              <a:buNone/>
            </a:pPr>
            <a:r>
              <a:rPr lang="en-US" sz="1100" dirty="0">
                <a:solidFill>
                  <a:schemeClr val="accent4"/>
                </a:solidFill>
              </a:rPr>
              <a:t>DB settings</a:t>
            </a:r>
            <a:endParaRPr lang="en-US" sz="1400" dirty="0"/>
          </a:p>
        </p:txBody>
      </p:sp>
      <p:sp>
        <p:nvSpPr>
          <p:cNvPr id="25" name="Shape 23"/>
          <p:cNvSpPr/>
          <p:nvPr/>
        </p:nvSpPr>
        <p:spPr>
          <a:xfrm>
            <a:off x="4297680" y="4443984"/>
            <a:ext cx="1737360" cy="868680"/>
          </a:xfrm>
          <a:prstGeom prst="roundRect">
            <a:avLst>
              <a:gd name="adj" fmla="val 8421"/>
            </a:avLst>
          </a:prstGeom>
          <a:solidFill>
            <a:schemeClr val="bg2"/>
          </a:solidFill>
          <a:ln/>
        </p:spPr>
      </p:sp>
      <p:sp>
        <p:nvSpPr>
          <p:cNvPr id="26" name="Text 24"/>
          <p:cNvSpPr txBox="1"/>
          <p:nvPr/>
        </p:nvSpPr>
        <p:spPr>
          <a:xfrm>
            <a:off x="4389120" y="4443984"/>
            <a:ext cx="1554480" cy="868680"/>
          </a:xfrm>
          <a:prstGeom prst="rect">
            <a:avLst/>
          </a:prstGeom>
          <a:noFill/>
          <a:ln/>
        </p:spPr>
        <p:txBody>
          <a:bodyPr wrap="square" lIns="0" tIns="0" rIns="0" bIns="0" rtlCol="0" anchor="ctr"/>
          <a:lstStyle/>
          <a:p>
            <a:pPr algn="ctr" indent="0" marL="0">
              <a:buNone/>
            </a:pPr>
            <a:r>
              <a:rPr lang="en-US" sz="1300" b="1" dirty="0">
                <a:solidFill>
                  <a:schemeClr val="tx1"/>
                </a:solidFill>
              </a:rPr>
              <a:t>helm test</a:t>
            </a:r>
            <a:endParaRPr lang="en-US" sz="1400" dirty="0"/>
          </a:p>
          <a:p>
            <a:pPr algn="ctr" indent="0" marL="0">
              <a:buNone/>
            </a:pPr>
            <a:r>
              <a:rPr lang="en-US" sz="1100" dirty="0">
                <a:solidFill>
                  <a:schemeClr val="accent4"/>
                </a:solidFill>
              </a:rPr>
              <a:t>API smoke pod</a:t>
            </a:r>
            <a:endParaRPr lang="en-US" sz="1400" dirty="0"/>
          </a:p>
        </p:txBody>
      </p:sp>
      <p:sp>
        <p:nvSpPr>
          <p:cNvPr id="27" name="Text 25"/>
          <p:cNvSpPr txBox="1"/>
          <p:nvPr/>
        </p:nvSpPr>
        <p:spPr>
          <a:xfrm>
            <a:off x="548640" y="5577840"/>
            <a:ext cx="5486400" cy="548640"/>
          </a:xfrm>
          <a:prstGeom prst="rect">
            <a:avLst/>
          </a:prstGeom>
          <a:noFill/>
          <a:ln/>
        </p:spPr>
        <p:txBody>
          <a:bodyPr wrap="square" lIns="0" tIns="0" rIns="0" bIns="0" rtlCol="0" anchor="t"/>
          <a:lstStyle/>
          <a:p>
            <a:pPr indent="0" marL="0">
              <a:buNone/>
            </a:pPr>
            <a:r>
              <a:rPr lang="en-US" sz="1200" dirty="0">
                <a:solidFill>
                  <a:schemeClr val="accent4"/>
                </a:solidFill>
              </a:rPr>
              <a:t>Probes: startup + liveness /health, readiness /ready. The init container waits for Postgres.</a:t>
            </a:r>
            <a:endParaRPr lang="en-US" sz="1200" dirty="0"/>
          </a:p>
        </p:txBody>
      </p:sp>
      <p:graphicFrame>
        <p:nvGraphicFramePr>
          <p:cNvPr id="28" name="Chart 0" descr=""/>
          <p:cNvGraphicFramePr/>
          <p:nvPr/>
        </p:nvGraphicFramePr>
        <p:xfrm>
          <a:off x="6355080" y="1371600"/>
          <a:ext cx="5303520" cy="47091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GitOps with Argo CD: Git is the source of truth</a:t>
            </a:r>
            <a:endParaRPr lang="en-US" sz="3200" dirty="0"/>
          </a:p>
        </p:txBody>
      </p:sp>
      <p:sp>
        <p:nvSpPr>
          <p:cNvPr id="3" name="Shape 1"/>
          <p:cNvSpPr/>
          <p:nvPr/>
        </p:nvSpPr>
        <p:spPr>
          <a:xfrm>
            <a:off x="1188720" y="1463040"/>
            <a:ext cx="822960" cy="822960"/>
          </a:xfrm>
          <a:prstGeom prst="ellipse">
            <a:avLst/>
          </a:prstGeom>
          <a:solidFill>
            <a:schemeClr val="accent1"/>
          </a:solidFill>
          <a:ln/>
        </p:spPr>
      </p:sp>
      <p:sp>
        <p:nvSpPr>
          <p:cNvPr id="4" name="Text 2"/>
          <p:cNvSpPr txBox="1"/>
          <p:nvPr/>
        </p:nvSpPr>
        <p:spPr>
          <a:xfrm>
            <a:off x="1188720" y="1463040"/>
            <a:ext cx="822960" cy="82296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5" name="Text 3"/>
          <p:cNvSpPr txBox="1"/>
          <p:nvPr/>
        </p:nvSpPr>
        <p:spPr>
          <a:xfrm>
            <a:off x="685800" y="2423160"/>
            <a:ext cx="1828800" cy="365760"/>
          </a:xfrm>
          <a:prstGeom prst="rect">
            <a:avLst/>
          </a:prstGeom>
          <a:noFill/>
          <a:ln/>
        </p:spPr>
        <p:txBody>
          <a:bodyPr wrap="square" lIns="0" tIns="0" rIns="0" bIns="0" rtlCol="0" anchor="t"/>
          <a:lstStyle/>
          <a:p>
            <a:pPr algn="ctr" indent="0" marL="0">
              <a:buNone/>
            </a:pPr>
            <a:r>
              <a:rPr lang="en-US" sz="1700" b="1" dirty="0">
                <a:solidFill>
                  <a:schemeClr val="tx1"/>
                </a:solidFill>
              </a:rPr>
              <a:t>git push</a:t>
            </a:r>
            <a:endParaRPr lang="en-US" sz="1700" dirty="0"/>
          </a:p>
        </p:txBody>
      </p:sp>
      <p:sp>
        <p:nvSpPr>
          <p:cNvPr id="6" name="Text 4"/>
          <p:cNvSpPr txBox="1"/>
          <p:nvPr/>
        </p:nvSpPr>
        <p:spPr>
          <a:xfrm>
            <a:off x="685800" y="2788920"/>
            <a:ext cx="1828800" cy="548640"/>
          </a:xfrm>
          <a:prstGeom prst="rect">
            <a:avLst/>
          </a:prstGeom>
          <a:noFill/>
          <a:ln/>
        </p:spPr>
        <p:txBody>
          <a:bodyPr wrap="square" lIns="0" tIns="0" rIns="0" bIns="0" rtlCol="0" anchor="t"/>
          <a:lstStyle/>
          <a:p>
            <a:pPr algn="ctr" indent="0" marL="0">
              <a:buNone/>
            </a:pPr>
            <a:r>
              <a:rPr lang="en-US" sz="1300" dirty="0">
                <a:solidFill>
                  <a:schemeClr val="tx2"/>
                </a:solidFill>
              </a:rPr>
              <a:t>code change to main</a:t>
            </a:r>
            <a:endParaRPr lang="en-US" sz="1300" dirty="0"/>
          </a:p>
        </p:txBody>
      </p:sp>
      <p:sp>
        <p:nvSpPr>
          <p:cNvPr id="7" name="Shape 5"/>
          <p:cNvSpPr/>
          <p:nvPr/>
        </p:nvSpPr>
        <p:spPr>
          <a:xfrm>
            <a:off x="2103120" y="1874520"/>
            <a:ext cx="1325880" cy="914"/>
          </a:xfrm>
          <a:prstGeom prst="line">
            <a:avLst/>
          </a:prstGeom>
          <a:noFill/>
          <a:ln w="25400">
            <a:solidFill>
              <a:schemeClr val="accent1"/>
            </a:solidFill>
            <a:prstDash val="solid"/>
            <a:tailEnd type="triangle"/>
          </a:ln>
        </p:spPr>
      </p:sp>
      <p:sp>
        <p:nvSpPr>
          <p:cNvPr id="8" name="Shape 6"/>
          <p:cNvSpPr/>
          <p:nvPr/>
        </p:nvSpPr>
        <p:spPr>
          <a:xfrm>
            <a:off x="3474720" y="1463040"/>
            <a:ext cx="822960" cy="822960"/>
          </a:xfrm>
          <a:prstGeom prst="ellipse">
            <a:avLst/>
          </a:prstGeom>
          <a:solidFill>
            <a:schemeClr val="accent1"/>
          </a:solidFill>
          <a:ln/>
        </p:spPr>
      </p:sp>
      <p:sp>
        <p:nvSpPr>
          <p:cNvPr id="9" name="Text 7"/>
          <p:cNvSpPr txBox="1"/>
          <p:nvPr/>
        </p:nvSpPr>
        <p:spPr>
          <a:xfrm>
            <a:off x="3474720" y="1463040"/>
            <a:ext cx="822960" cy="82296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0" name="Text 8"/>
          <p:cNvSpPr txBox="1"/>
          <p:nvPr/>
        </p:nvSpPr>
        <p:spPr>
          <a:xfrm>
            <a:off x="2971800" y="2423160"/>
            <a:ext cx="1828800" cy="365760"/>
          </a:xfrm>
          <a:prstGeom prst="rect">
            <a:avLst/>
          </a:prstGeom>
          <a:noFill/>
          <a:ln/>
        </p:spPr>
        <p:txBody>
          <a:bodyPr wrap="square" lIns="0" tIns="0" rIns="0" bIns="0" rtlCol="0" anchor="t"/>
          <a:lstStyle/>
          <a:p>
            <a:pPr algn="ctr" indent="0" marL="0">
              <a:buNone/>
            </a:pPr>
            <a:r>
              <a:rPr lang="en-US" sz="1700" b="1" dirty="0">
                <a:solidFill>
                  <a:schemeClr val="tx1"/>
                </a:solidFill>
              </a:rPr>
              <a:t>CI green</a:t>
            </a:r>
            <a:endParaRPr lang="en-US" sz="1700" dirty="0"/>
          </a:p>
        </p:txBody>
      </p:sp>
      <p:sp>
        <p:nvSpPr>
          <p:cNvPr id="11" name="Text 9"/>
          <p:cNvSpPr txBox="1"/>
          <p:nvPr/>
        </p:nvSpPr>
        <p:spPr>
          <a:xfrm>
            <a:off x="2971800" y="2788920"/>
            <a:ext cx="1828800" cy="548640"/>
          </a:xfrm>
          <a:prstGeom prst="rect">
            <a:avLst/>
          </a:prstGeom>
          <a:noFill/>
          <a:ln/>
        </p:spPr>
        <p:txBody>
          <a:bodyPr wrap="square" lIns="0" tIns="0" rIns="0" bIns="0" rtlCol="0" anchor="t"/>
          <a:lstStyle/>
          <a:p>
            <a:pPr algn="ctr" indent="0" marL="0">
              <a:buNone/>
            </a:pPr>
            <a:r>
              <a:rPr lang="en-US" sz="1300" dirty="0">
                <a:solidFill>
                  <a:schemeClr val="tx2"/>
                </a:solidFill>
              </a:rPr>
              <a:t>tests + Trivy + GHCR</a:t>
            </a:r>
            <a:endParaRPr lang="en-US" sz="1300" dirty="0"/>
          </a:p>
        </p:txBody>
      </p:sp>
      <p:sp>
        <p:nvSpPr>
          <p:cNvPr id="12" name="Shape 10"/>
          <p:cNvSpPr/>
          <p:nvPr/>
        </p:nvSpPr>
        <p:spPr>
          <a:xfrm>
            <a:off x="4389120" y="1874520"/>
            <a:ext cx="1325880" cy="914"/>
          </a:xfrm>
          <a:prstGeom prst="line">
            <a:avLst/>
          </a:prstGeom>
          <a:noFill/>
          <a:ln w="25400">
            <a:solidFill>
              <a:schemeClr val="accent1"/>
            </a:solidFill>
            <a:prstDash val="solid"/>
            <a:tailEnd type="triangle"/>
          </a:ln>
        </p:spPr>
      </p:sp>
      <p:sp>
        <p:nvSpPr>
          <p:cNvPr id="13" name="Shape 11"/>
          <p:cNvSpPr/>
          <p:nvPr/>
        </p:nvSpPr>
        <p:spPr>
          <a:xfrm>
            <a:off x="5760720" y="1463040"/>
            <a:ext cx="822960" cy="822960"/>
          </a:xfrm>
          <a:prstGeom prst="ellipse">
            <a:avLst/>
          </a:prstGeom>
          <a:solidFill>
            <a:schemeClr val="accent1"/>
          </a:solidFill>
          <a:ln/>
        </p:spPr>
      </p:sp>
      <p:sp>
        <p:nvSpPr>
          <p:cNvPr id="14" name="Text 12"/>
          <p:cNvSpPr txBox="1"/>
          <p:nvPr/>
        </p:nvSpPr>
        <p:spPr>
          <a:xfrm>
            <a:off x="5760720" y="1463040"/>
            <a:ext cx="822960" cy="82296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5" name="Text 13"/>
          <p:cNvSpPr txBox="1"/>
          <p:nvPr/>
        </p:nvSpPr>
        <p:spPr>
          <a:xfrm>
            <a:off x="5257800" y="2423160"/>
            <a:ext cx="1828800" cy="365760"/>
          </a:xfrm>
          <a:prstGeom prst="rect">
            <a:avLst/>
          </a:prstGeom>
          <a:noFill/>
          <a:ln/>
        </p:spPr>
        <p:txBody>
          <a:bodyPr wrap="square" lIns="0" tIns="0" rIns="0" bIns="0" rtlCol="0" anchor="t"/>
          <a:lstStyle/>
          <a:p>
            <a:pPr algn="ctr" indent="0" marL="0">
              <a:buNone/>
            </a:pPr>
            <a:r>
              <a:rPr lang="en-US" sz="1700" b="1" dirty="0">
                <a:solidFill>
                  <a:schemeClr val="tx1"/>
                </a:solidFill>
              </a:rPr>
              <a:t>tag commit</a:t>
            </a:r>
            <a:endParaRPr lang="en-US" sz="1700" dirty="0"/>
          </a:p>
        </p:txBody>
      </p:sp>
      <p:sp>
        <p:nvSpPr>
          <p:cNvPr id="16" name="Text 14"/>
          <p:cNvSpPr txBox="1"/>
          <p:nvPr/>
        </p:nvSpPr>
        <p:spPr>
          <a:xfrm>
            <a:off x="5257800" y="2788920"/>
            <a:ext cx="1828800" cy="548640"/>
          </a:xfrm>
          <a:prstGeom prst="rect">
            <a:avLst/>
          </a:prstGeom>
          <a:noFill/>
          <a:ln/>
        </p:spPr>
        <p:txBody>
          <a:bodyPr wrap="square" lIns="0" tIns="0" rIns="0" bIns="0" rtlCol="0" anchor="t"/>
          <a:lstStyle/>
          <a:p>
            <a:pPr algn="ctr" indent="0" marL="0">
              <a:buNone/>
            </a:pPr>
            <a:r>
              <a:rPr lang="en-US" sz="1300" dirty="0">
                <a:solidFill>
                  <a:schemeClr val="tx2"/>
                </a:solidFill>
              </a:rPr>
              <a:t>values.yaml → :&lt;sha&gt;</a:t>
            </a:r>
            <a:endParaRPr lang="en-US" sz="1300" dirty="0"/>
          </a:p>
        </p:txBody>
      </p:sp>
      <p:sp>
        <p:nvSpPr>
          <p:cNvPr id="17" name="Shape 15"/>
          <p:cNvSpPr/>
          <p:nvPr/>
        </p:nvSpPr>
        <p:spPr>
          <a:xfrm>
            <a:off x="6675120" y="1874520"/>
            <a:ext cx="1325880" cy="914"/>
          </a:xfrm>
          <a:prstGeom prst="line">
            <a:avLst/>
          </a:prstGeom>
          <a:noFill/>
          <a:ln w="25400">
            <a:solidFill>
              <a:schemeClr val="accent1"/>
            </a:solidFill>
            <a:prstDash val="solid"/>
            <a:tailEnd type="triangle"/>
          </a:ln>
        </p:spPr>
      </p:sp>
      <p:sp>
        <p:nvSpPr>
          <p:cNvPr id="18" name="Shape 16"/>
          <p:cNvSpPr/>
          <p:nvPr/>
        </p:nvSpPr>
        <p:spPr>
          <a:xfrm>
            <a:off x="8046720" y="1463040"/>
            <a:ext cx="822960" cy="822960"/>
          </a:xfrm>
          <a:prstGeom prst="ellipse">
            <a:avLst/>
          </a:prstGeom>
          <a:solidFill>
            <a:schemeClr val="accent2"/>
          </a:solidFill>
          <a:ln/>
        </p:spPr>
      </p:sp>
      <p:sp>
        <p:nvSpPr>
          <p:cNvPr id="19" name="Text 17"/>
          <p:cNvSpPr txBox="1"/>
          <p:nvPr/>
        </p:nvSpPr>
        <p:spPr>
          <a:xfrm>
            <a:off x="8046720" y="1463040"/>
            <a:ext cx="822960" cy="82296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0" name="Text 18"/>
          <p:cNvSpPr txBox="1"/>
          <p:nvPr/>
        </p:nvSpPr>
        <p:spPr>
          <a:xfrm>
            <a:off x="7543800" y="2423160"/>
            <a:ext cx="1828800" cy="365760"/>
          </a:xfrm>
          <a:prstGeom prst="rect">
            <a:avLst/>
          </a:prstGeom>
          <a:noFill/>
          <a:ln/>
        </p:spPr>
        <p:txBody>
          <a:bodyPr wrap="square" lIns="0" tIns="0" rIns="0" bIns="0" rtlCol="0" anchor="t"/>
          <a:lstStyle/>
          <a:p>
            <a:pPr algn="ctr" indent="0" marL="0">
              <a:buNone/>
            </a:pPr>
            <a:r>
              <a:rPr lang="en-US" sz="1700" b="1" dirty="0">
                <a:solidFill>
                  <a:schemeClr val="tx1"/>
                </a:solidFill>
              </a:rPr>
              <a:t>Argo CD</a:t>
            </a:r>
            <a:endParaRPr lang="en-US" sz="1700" dirty="0"/>
          </a:p>
        </p:txBody>
      </p:sp>
      <p:sp>
        <p:nvSpPr>
          <p:cNvPr id="21" name="Text 19"/>
          <p:cNvSpPr txBox="1"/>
          <p:nvPr/>
        </p:nvSpPr>
        <p:spPr>
          <a:xfrm>
            <a:off x="7543800" y="2788920"/>
            <a:ext cx="1828800" cy="548640"/>
          </a:xfrm>
          <a:prstGeom prst="rect">
            <a:avLst/>
          </a:prstGeom>
          <a:noFill/>
          <a:ln/>
        </p:spPr>
        <p:txBody>
          <a:bodyPr wrap="square" lIns="0" tIns="0" rIns="0" bIns="0" rtlCol="0" anchor="t"/>
          <a:lstStyle/>
          <a:p>
            <a:pPr algn="ctr" indent="0" marL="0">
              <a:buNone/>
            </a:pPr>
            <a:r>
              <a:rPr lang="en-US" sz="1300" dirty="0">
                <a:solidFill>
                  <a:schemeClr val="tx2"/>
                </a:solidFill>
              </a:rPr>
              <a:t>detects drift (60 s poll)</a:t>
            </a:r>
            <a:endParaRPr lang="en-US" sz="1300" dirty="0"/>
          </a:p>
        </p:txBody>
      </p:sp>
      <p:sp>
        <p:nvSpPr>
          <p:cNvPr id="22" name="Shape 20"/>
          <p:cNvSpPr/>
          <p:nvPr/>
        </p:nvSpPr>
        <p:spPr>
          <a:xfrm>
            <a:off x="8961120" y="1874520"/>
            <a:ext cx="1325880" cy="914"/>
          </a:xfrm>
          <a:prstGeom prst="line">
            <a:avLst/>
          </a:prstGeom>
          <a:noFill/>
          <a:ln w="25400">
            <a:solidFill>
              <a:schemeClr val="accent1"/>
            </a:solidFill>
            <a:prstDash val="solid"/>
            <a:tailEnd type="triangle"/>
          </a:ln>
        </p:spPr>
      </p:sp>
      <p:sp>
        <p:nvSpPr>
          <p:cNvPr id="23" name="Shape 21"/>
          <p:cNvSpPr/>
          <p:nvPr/>
        </p:nvSpPr>
        <p:spPr>
          <a:xfrm>
            <a:off x="10332720" y="1463040"/>
            <a:ext cx="822960" cy="822960"/>
          </a:xfrm>
          <a:prstGeom prst="ellipse">
            <a:avLst/>
          </a:prstGeom>
          <a:solidFill>
            <a:schemeClr val="accent1"/>
          </a:solidFill>
          <a:ln/>
        </p:spPr>
      </p:sp>
      <p:sp>
        <p:nvSpPr>
          <p:cNvPr id="24" name="Text 22"/>
          <p:cNvSpPr txBox="1"/>
          <p:nvPr/>
        </p:nvSpPr>
        <p:spPr>
          <a:xfrm>
            <a:off x="10332720" y="1463040"/>
            <a:ext cx="822960" cy="822960"/>
          </a:xfrm>
          <a:prstGeom prst="rect">
            <a:avLst/>
          </a:prstGeom>
          <a:noFill/>
          <a:ln/>
        </p:spPr>
        <p:txBody>
          <a:bodyPr wrap="square" lIns="0" tIns="0" rIns="0" bIns="0" rtlCol="0" anchor="ctr"/>
          <a:lstStyle/>
          <a:p>
            <a:pPr algn="ctr" indent="0" marL="0">
              <a:buNone/>
            </a:pPr>
            <a:r>
              <a:rPr lang="en-US" sz="2600" b="1" dirty="0">
                <a:solidFill>
                  <a:schemeClr val="bg1"/>
                </a:solidFill>
              </a:rPr>
              <a:t>5</a:t>
            </a:r>
            <a:endParaRPr lang="en-US" sz="2600" dirty="0"/>
          </a:p>
        </p:txBody>
      </p:sp>
      <p:sp>
        <p:nvSpPr>
          <p:cNvPr id="25" name="Text 23"/>
          <p:cNvSpPr txBox="1"/>
          <p:nvPr/>
        </p:nvSpPr>
        <p:spPr>
          <a:xfrm>
            <a:off x="9829800" y="2423160"/>
            <a:ext cx="1828800" cy="365760"/>
          </a:xfrm>
          <a:prstGeom prst="rect">
            <a:avLst/>
          </a:prstGeom>
          <a:noFill/>
          <a:ln/>
        </p:spPr>
        <p:txBody>
          <a:bodyPr wrap="square" lIns="0" tIns="0" rIns="0" bIns="0" rtlCol="0" anchor="t"/>
          <a:lstStyle/>
          <a:p>
            <a:pPr algn="ctr" indent="0" marL="0">
              <a:buNone/>
            </a:pPr>
            <a:r>
              <a:rPr lang="en-US" sz="1700" b="1" dirty="0">
                <a:solidFill>
                  <a:schemeClr val="tx1"/>
                </a:solidFill>
              </a:rPr>
              <a:t>rollout</a:t>
            </a:r>
            <a:endParaRPr lang="en-US" sz="1700" dirty="0"/>
          </a:p>
        </p:txBody>
      </p:sp>
      <p:sp>
        <p:nvSpPr>
          <p:cNvPr id="26" name="Text 24"/>
          <p:cNvSpPr txBox="1"/>
          <p:nvPr/>
        </p:nvSpPr>
        <p:spPr>
          <a:xfrm>
            <a:off x="9829800" y="2788920"/>
            <a:ext cx="1828800" cy="548640"/>
          </a:xfrm>
          <a:prstGeom prst="rect">
            <a:avLst/>
          </a:prstGeom>
          <a:noFill/>
          <a:ln/>
        </p:spPr>
        <p:txBody>
          <a:bodyPr wrap="square" lIns="0" tIns="0" rIns="0" bIns="0" rtlCol="0" anchor="t"/>
          <a:lstStyle/>
          <a:p>
            <a:pPr algn="ctr" indent="0" marL="0">
              <a:buNone/>
            </a:pPr>
            <a:r>
              <a:rPr lang="en-US" sz="1300" dirty="0">
                <a:solidFill>
                  <a:schemeClr val="tx2"/>
                </a:solidFill>
              </a:rPr>
              <a:t>zero-downtime update</a:t>
            </a:r>
            <a:endParaRPr lang="en-US" sz="1300" dirty="0"/>
          </a:p>
        </p:txBody>
      </p:sp>
      <p:sp>
        <p:nvSpPr>
          <p:cNvPr id="27" name="Shape 25"/>
          <p:cNvSpPr/>
          <p:nvPr/>
        </p:nvSpPr>
        <p:spPr>
          <a:xfrm>
            <a:off x="548640" y="3749040"/>
            <a:ext cx="5440680" cy="2331720"/>
          </a:xfrm>
          <a:prstGeom prst="roundRect">
            <a:avLst>
              <a:gd name="adj" fmla="val 3137"/>
            </a:avLst>
          </a:prstGeom>
          <a:solidFill>
            <a:schemeClr val="bg2"/>
          </a:solidFill>
          <a:ln/>
        </p:spPr>
      </p:sp>
      <p:sp>
        <p:nvSpPr>
          <p:cNvPr id="28" name="Shape 26"/>
          <p:cNvSpPr/>
          <p:nvPr/>
        </p:nvSpPr>
        <p:spPr>
          <a:xfrm>
            <a:off x="822960" y="3977640"/>
            <a:ext cx="566928" cy="566928"/>
          </a:xfrm>
          <a:prstGeom prst="ellipse">
            <a:avLst/>
          </a:prstGeom>
          <a:solidFill>
            <a:schemeClr val="accent1"/>
          </a:solidFill>
          <a:ln/>
        </p:spPr>
      </p:sp>
      <p:pic>
        <p:nvPicPr>
          <p:cNvPr id="29" name="Image 0" descr="preencoded.png">    </p:cNvPr>
          <p:cNvPicPr>
            <a:picLocks noChangeAspect="1"/>
          </p:cNvPicPr>
          <p:nvPr/>
        </p:nvPicPr>
        <p:blipFill>
          <a:blip r:embed="rId1"/>
          <a:stretch>
            <a:fillRect/>
          </a:stretch>
        </p:blipFill>
        <p:spPr>
          <a:xfrm>
            <a:off x="947684" y="4102364"/>
            <a:ext cx="317480" cy="317480"/>
          </a:xfrm>
          <a:prstGeom prst="rect">
            <a:avLst/>
          </a:prstGeom>
        </p:spPr>
      </p:pic>
      <p:sp>
        <p:nvSpPr>
          <p:cNvPr id="30" name="Text 27"/>
          <p:cNvSpPr txBox="1"/>
          <p:nvPr/>
        </p:nvSpPr>
        <p:spPr>
          <a:xfrm>
            <a:off x="1554480" y="4069080"/>
            <a:ext cx="4114800" cy="411480"/>
          </a:xfrm>
          <a:prstGeom prst="rect">
            <a:avLst/>
          </a:prstGeom>
          <a:noFill/>
          <a:ln/>
        </p:spPr>
        <p:txBody>
          <a:bodyPr wrap="square" lIns="0" tIns="0" rIns="0" bIns="0" rtlCol="0" anchor="t"/>
          <a:lstStyle/>
          <a:p>
            <a:pPr indent="0" marL="0">
              <a:buNone/>
            </a:pPr>
            <a:r>
              <a:rPr lang="en-US" sz="1800" b="1" dirty="0">
                <a:solidFill>
                  <a:schemeClr val="tx1"/>
                </a:solidFill>
              </a:rPr>
              <a:t>Why GitOps</a:t>
            </a:r>
            <a:endParaRPr lang="en-US" sz="1800" dirty="0"/>
          </a:p>
        </p:txBody>
      </p:sp>
      <p:sp>
        <p:nvSpPr>
          <p:cNvPr id="31" name="Text 28"/>
          <p:cNvSpPr txBox="1"/>
          <p:nvPr/>
        </p:nvSpPr>
        <p:spPr>
          <a:xfrm>
            <a:off x="1554480" y="4572000"/>
            <a:ext cx="420624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CI never holds cluster credentials</a:t>
            </a:r>
            <a:endParaRPr lang="en-US" sz="1400" dirty="0"/>
          </a:p>
          <a:p>
            <a:pPr marL="342900" indent="-342900">
              <a:spcAft>
                <a:spcPts val="400"/>
              </a:spcAft>
              <a:buSzPct val="100000"/>
              <a:buChar char="•"/>
            </a:pPr>
            <a:r>
              <a:rPr lang="en-US" sz="1400" dirty="0">
                <a:solidFill>
                  <a:schemeClr val="tx2"/>
                </a:solidFill>
              </a:rPr>
              <a:t>git revert = rollback</a:t>
            </a:r>
            <a:endParaRPr lang="en-US" sz="1400" dirty="0"/>
          </a:p>
          <a:p>
            <a:pPr marL="342900" indent="-342900">
              <a:spcAft>
                <a:spcPts val="400"/>
              </a:spcAft>
              <a:buSzPct val="100000"/>
              <a:buChar char="•"/>
            </a:pPr>
            <a:r>
              <a:rPr lang="en-US" sz="1400" dirty="0">
                <a:solidFill>
                  <a:schemeClr val="tx2"/>
                </a:solidFill>
              </a:rPr>
              <a:t>every change is reviewed in Git</a:t>
            </a:r>
            <a:endParaRPr lang="en-US" sz="1400" dirty="0"/>
          </a:p>
        </p:txBody>
      </p:sp>
      <p:sp>
        <p:nvSpPr>
          <p:cNvPr id="32" name="Shape 29"/>
          <p:cNvSpPr/>
          <p:nvPr/>
        </p:nvSpPr>
        <p:spPr>
          <a:xfrm>
            <a:off x="6172200" y="3749040"/>
            <a:ext cx="5440680" cy="2331720"/>
          </a:xfrm>
          <a:prstGeom prst="roundRect">
            <a:avLst>
              <a:gd name="adj" fmla="val 3137"/>
            </a:avLst>
          </a:prstGeom>
          <a:solidFill>
            <a:schemeClr val="bg2"/>
          </a:solidFill>
          <a:ln/>
        </p:spPr>
      </p:sp>
      <p:sp>
        <p:nvSpPr>
          <p:cNvPr id="33" name="Shape 30"/>
          <p:cNvSpPr/>
          <p:nvPr/>
        </p:nvSpPr>
        <p:spPr>
          <a:xfrm>
            <a:off x="6446520" y="3977640"/>
            <a:ext cx="566928" cy="566928"/>
          </a:xfrm>
          <a:prstGeom prst="ellipse">
            <a:avLst/>
          </a:prstGeom>
          <a:solidFill>
            <a:schemeClr val="accent1"/>
          </a:solidFill>
          <a:ln/>
        </p:spPr>
      </p:sp>
      <p:pic>
        <p:nvPicPr>
          <p:cNvPr id="34" name="Image 1" descr="preencoded.png">    </p:cNvPr>
          <p:cNvPicPr>
            <a:picLocks noChangeAspect="1"/>
          </p:cNvPicPr>
          <p:nvPr/>
        </p:nvPicPr>
        <p:blipFill>
          <a:blip r:embed="rId2"/>
          <a:stretch>
            <a:fillRect/>
          </a:stretch>
        </p:blipFill>
        <p:spPr>
          <a:xfrm>
            <a:off x="6571244" y="4102364"/>
            <a:ext cx="317480" cy="317480"/>
          </a:xfrm>
          <a:prstGeom prst="rect">
            <a:avLst/>
          </a:prstGeom>
        </p:spPr>
      </p:pic>
      <p:sp>
        <p:nvSpPr>
          <p:cNvPr id="35" name="Text 31"/>
          <p:cNvSpPr txBox="1"/>
          <p:nvPr/>
        </p:nvSpPr>
        <p:spPr>
          <a:xfrm>
            <a:off x="7178040" y="4069080"/>
            <a:ext cx="4114800" cy="411480"/>
          </a:xfrm>
          <a:prstGeom prst="rect">
            <a:avLst/>
          </a:prstGeom>
          <a:noFill/>
          <a:ln/>
        </p:spPr>
        <p:txBody>
          <a:bodyPr wrap="square" lIns="0" tIns="0" rIns="0" bIns="0" rtlCol="0" anchor="t"/>
          <a:lstStyle/>
          <a:p>
            <a:pPr indent="0" marL="0">
              <a:buNone/>
            </a:pPr>
            <a:r>
              <a:rPr lang="en-US" sz="1800" b="1" dirty="0">
                <a:solidFill>
                  <a:schemeClr val="tx1"/>
                </a:solidFill>
              </a:rPr>
              <a:t>Application spec</a:t>
            </a:r>
            <a:endParaRPr lang="en-US" sz="1800" dirty="0"/>
          </a:p>
        </p:txBody>
      </p:sp>
      <p:sp>
        <p:nvSpPr>
          <p:cNvPr id="36" name="Text 32"/>
          <p:cNvSpPr txBox="1"/>
          <p:nvPr/>
        </p:nvSpPr>
        <p:spPr>
          <a:xfrm>
            <a:off x="7178040" y="4572000"/>
            <a:ext cx="420624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auto-sync with prune + self-heal</a:t>
            </a:r>
            <a:endParaRPr lang="en-US" sz="1400" dirty="0"/>
          </a:p>
          <a:p>
            <a:pPr marL="342900" indent="-342900">
              <a:spcAft>
                <a:spcPts val="400"/>
              </a:spcAft>
              <a:buSzPct val="100000"/>
              <a:buChar char="•"/>
            </a:pPr>
            <a:r>
              <a:rPr lang="en-US" sz="1400" dirty="0">
                <a:solidFill>
                  <a:schemeClr val="tx2"/>
                </a:solidFill>
              </a:rPr>
              <a:t>values.yaml + values-eks.yaml</a:t>
            </a:r>
            <a:endParaRPr lang="en-US" sz="1400" dirty="0"/>
          </a:p>
          <a:p>
            <a:pPr marL="342900" indent="-342900">
              <a:spcAft>
                <a:spcPts val="400"/>
              </a:spcAft>
              <a:buSzPct val="100000"/>
              <a:buChar char="•"/>
            </a:pPr>
            <a:r>
              <a:rPr lang="en-US" sz="1400" dirty="0">
                <a:solidFill>
                  <a:schemeClr val="tx2"/>
                </a:solidFill>
              </a:rPr>
              <a:t>manual kubectl edits are reverted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Observability: Prometheus scrapes, Grafana explains</a:t>
            </a:r>
            <a:endParaRPr lang="en-US" sz="3200" dirty="0"/>
          </a:p>
        </p:txBody>
      </p:sp>
      <p:sp>
        <p:nvSpPr>
          <p:cNvPr id="3" name="Shape 1"/>
          <p:cNvSpPr/>
          <p:nvPr/>
        </p:nvSpPr>
        <p:spPr>
          <a:xfrm>
            <a:off x="932688" y="1417320"/>
            <a:ext cx="685800" cy="68580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1083564" y="1568196"/>
            <a:ext cx="384048" cy="384048"/>
          </a:xfrm>
          <a:prstGeom prst="rect">
            <a:avLst/>
          </a:prstGeom>
        </p:spPr>
      </p:pic>
      <p:sp>
        <p:nvSpPr>
          <p:cNvPr id="5" name="Text 2"/>
          <p:cNvSpPr txBox="1"/>
          <p:nvPr/>
        </p:nvSpPr>
        <p:spPr>
          <a:xfrm>
            <a:off x="502920" y="2194560"/>
            <a:ext cx="1508760" cy="457200"/>
          </a:xfrm>
          <a:prstGeom prst="rect">
            <a:avLst/>
          </a:prstGeom>
          <a:noFill/>
          <a:ln/>
        </p:spPr>
        <p:txBody>
          <a:bodyPr wrap="square" lIns="0" tIns="0" rIns="0" bIns="0" rtlCol="0" anchor="t"/>
          <a:lstStyle/>
          <a:p>
            <a:pPr algn="ctr" indent="0" marL="0">
              <a:buNone/>
            </a:pPr>
            <a:r>
              <a:rPr lang="en-US" sz="1300" b="1" dirty="0">
                <a:solidFill>
                  <a:schemeClr val="tx1"/>
                </a:solidFill>
              </a:rPr>
              <a:t>FastAPI /metrics</a:t>
            </a:r>
            <a:endParaRPr lang="en-US" sz="1300" dirty="0"/>
          </a:p>
        </p:txBody>
      </p:sp>
      <p:sp>
        <p:nvSpPr>
          <p:cNvPr id="6" name="Shape 3"/>
          <p:cNvSpPr/>
          <p:nvPr/>
        </p:nvSpPr>
        <p:spPr>
          <a:xfrm>
            <a:off x="1691640" y="1755648"/>
            <a:ext cx="960120" cy="914"/>
          </a:xfrm>
          <a:prstGeom prst="line">
            <a:avLst/>
          </a:prstGeom>
          <a:noFill/>
          <a:ln w="25400">
            <a:solidFill>
              <a:schemeClr val="accent1"/>
            </a:solidFill>
            <a:prstDash val="solid"/>
            <a:tailEnd type="triangle"/>
          </a:ln>
        </p:spPr>
      </p:sp>
      <p:sp>
        <p:nvSpPr>
          <p:cNvPr id="7" name="Shape 4"/>
          <p:cNvSpPr/>
          <p:nvPr/>
        </p:nvSpPr>
        <p:spPr>
          <a:xfrm>
            <a:off x="2715768" y="1417320"/>
            <a:ext cx="685800" cy="68580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2866644" y="1568196"/>
            <a:ext cx="384048" cy="384048"/>
          </a:xfrm>
          <a:prstGeom prst="rect">
            <a:avLst/>
          </a:prstGeom>
        </p:spPr>
      </p:pic>
      <p:sp>
        <p:nvSpPr>
          <p:cNvPr id="9" name="Text 5"/>
          <p:cNvSpPr txBox="1"/>
          <p:nvPr/>
        </p:nvSpPr>
        <p:spPr>
          <a:xfrm>
            <a:off x="2286000" y="2194560"/>
            <a:ext cx="1508760" cy="457200"/>
          </a:xfrm>
          <a:prstGeom prst="rect">
            <a:avLst/>
          </a:prstGeom>
          <a:noFill/>
          <a:ln/>
        </p:spPr>
        <p:txBody>
          <a:bodyPr wrap="square" lIns="0" tIns="0" rIns="0" bIns="0" rtlCol="0" anchor="t"/>
          <a:lstStyle/>
          <a:p>
            <a:pPr algn="ctr" indent="0" marL="0">
              <a:buNone/>
            </a:pPr>
            <a:r>
              <a:rPr lang="en-US" sz="1300" b="1" dirty="0">
                <a:solidFill>
                  <a:schemeClr val="tx1"/>
                </a:solidFill>
              </a:rPr>
              <a:t>ServiceMonitor</a:t>
            </a:r>
            <a:endParaRPr lang="en-US" sz="1300" dirty="0"/>
          </a:p>
        </p:txBody>
      </p:sp>
      <p:sp>
        <p:nvSpPr>
          <p:cNvPr id="10" name="Shape 6"/>
          <p:cNvSpPr/>
          <p:nvPr/>
        </p:nvSpPr>
        <p:spPr>
          <a:xfrm>
            <a:off x="3474720" y="1755648"/>
            <a:ext cx="960120" cy="914"/>
          </a:xfrm>
          <a:prstGeom prst="line">
            <a:avLst/>
          </a:prstGeom>
          <a:noFill/>
          <a:ln w="25400">
            <a:solidFill>
              <a:schemeClr val="accent1"/>
            </a:solidFill>
            <a:prstDash val="solid"/>
            <a:tailEnd type="triangle"/>
          </a:ln>
        </p:spPr>
      </p:sp>
      <p:sp>
        <p:nvSpPr>
          <p:cNvPr id="11" name="Shape 7"/>
          <p:cNvSpPr/>
          <p:nvPr/>
        </p:nvSpPr>
        <p:spPr>
          <a:xfrm>
            <a:off x="4498848" y="1417320"/>
            <a:ext cx="685800" cy="685800"/>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4649724" y="1568196"/>
            <a:ext cx="384048" cy="384048"/>
          </a:xfrm>
          <a:prstGeom prst="rect">
            <a:avLst/>
          </a:prstGeom>
        </p:spPr>
      </p:pic>
      <p:sp>
        <p:nvSpPr>
          <p:cNvPr id="13" name="Text 8"/>
          <p:cNvSpPr txBox="1"/>
          <p:nvPr/>
        </p:nvSpPr>
        <p:spPr>
          <a:xfrm>
            <a:off x="4069080" y="2194560"/>
            <a:ext cx="1508760" cy="457200"/>
          </a:xfrm>
          <a:prstGeom prst="rect">
            <a:avLst/>
          </a:prstGeom>
          <a:noFill/>
          <a:ln/>
        </p:spPr>
        <p:txBody>
          <a:bodyPr wrap="square" lIns="0" tIns="0" rIns="0" bIns="0" rtlCol="0" anchor="t"/>
          <a:lstStyle/>
          <a:p>
            <a:pPr algn="ctr" indent="0" marL="0">
              <a:buNone/>
            </a:pPr>
            <a:r>
              <a:rPr lang="en-US" sz="1300" b="1" dirty="0">
                <a:solidFill>
                  <a:schemeClr val="tx1"/>
                </a:solidFill>
              </a:rPr>
              <a:t>Prometheus</a:t>
            </a:r>
            <a:endParaRPr lang="en-US" sz="1300" dirty="0"/>
          </a:p>
        </p:txBody>
      </p:sp>
      <p:sp>
        <p:nvSpPr>
          <p:cNvPr id="14" name="Shape 9"/>
          <p:cNvSpPr/>
          <p:nvPr/>
        </p:nvSpPr>
        <p:spPr>
          <a:xfrm>
            <a:off x="5257800" y="1755648"/>
            <a:ext cx="960120" cy="914"/>
          </a:xfrm>
          <a:prstGeom prst="line">
            <a:avLst/>
          </a:prstGeom>
          <a:noFill/>
          <a:ln w="25400">
            <a:solidFill>
              <a:schemeClr val="accent1"/>
            </a:solidFill>
            <a:prstDash val="solid"/>
            <a:tailEnd type="triangle"/>
          </a:ln>
        </p:spPr>
      </p:sp>
      <p:sp>
        <p:nvSpPr>
          <p:cNvPr id="15" name="Shape 10"/>
          <p:cNvSpPr/>
          <p:nvPr/>
        </p:nvSpPr>
        <p:spPr>
          <a:xfrm>
            <a:off x="6281928" y="1417320"/>
            <a:ext cx="685800" cy="685800"/>
          </a:xfrm>
          <a:prstGeom prst="ellipse">
            <a:avLst/>
          </a:prstGeom>
          <a:solidFill>
            <a:schemeClr val="accent2"/>
          </a:solidFill>
          <a:ln/>
        </p:spPr>
      </p:sp>
      <p:pic>
        <p:nvPicPr>
          <p:cNvPr id="16" name="Image 3" descr="preencoded.png">    </p:cNvPr>
          <p:cNvPicPr>
            <a:picLocks noChangeAspect="1"/>
          </p:cNvPicPr>
          <p:nvPr/>
        </p:nvPicPr>
        <p:blipFill>
          <a:blip r:embed="rId4"/>
          <a:stretch>
            <a:fillRect/>
          </a:stretch>
        </p:blipFill>
        <p:spPr>
          <a:xfrm>
            <a:off x="6432804" y="1568196"/>
            <a:ext cx="384048" cy="384048"/>
          </a:xfrm>
          <a:prstGeom prst="rect">
            <a:avLst/>
          </a:prstGeom>
        </p:spPr>
      </p:pic>
      <p:sp>
        <p:nvSpPr>
          <p:cNvPr id="17" name="Text 11"/>
          <p:cNvSpPr txBox="1"/>
          <p:nvPr/>
        </p:nvSpPr>
        <p:spPr>
          <a:xfrm>
            <a:off x="5852160" y="2194560"/>
            <a:ext cx="1508760" cy="457200"/>
          </a:xfrm>
          <a:prstGeom prst="rect">
            <a:avLst/>
          </a:prstGeom>
          <a:noFill/>
          <a:ln/>
        </p:spPr>
        <p:txBody>
          <a:bodyPr wrap="square" lIns="0" tIns="0" rIns="0" bIns="0" rtlCol="0" anchor="t"/>
          <a:lstStyle/>
          <a:p>
            <a:pPr algn="ctr" indent="0" marL="0">
              <a:buNone/>
            </a:pPr>
            <a:r>
              <a:rPr lang="en-US" sz="1300" b="1" dirty="0">
                <a:solidFill>
                  <a:schemeClr val="tx1"/>
                </a:solidFill>
              </a:rPr>
              <a:t>Grafana</a:t>
            </a:r>
            <a:endParaRPr lang="en-US" sz="1300" dirty="0"/>
          </a:p>
        </p:txBody>
      </p:sp>
      <p:sp>
        <p:nvSpPr>
          <p:cNvPr id="18" name="Shape 12"/>
          <p:cNvSpPr/>
          <p:nvPr/>
        </p:nvSpPr>
        <p:spPr>
          <a:xfrm>
            <a:off x="548640" y="3017520"/>
            <a:ext cx="2148840" cy="1417320"/>
          </a:xfrm>
          <a:prstGeom prst="roundRect">
            <a:avLst>
              <a:gd name="adj" fmla="val 5161"/>
            </a:avLst>
          </a:prstGeom>
          <a:solidFill>
            <a:schemeClr val="bg2"/>
          </a:solidFill>
          <a:ln/>
        </p:spPr>
      </p:sp>
      <p:sp>
        <p:nvSpPr>
          <p:cNvPr id="19" name="Text 13"/>
          <p:cNvSpPr txBox="1"/>
          <p:nvPr/>
        </p:nvSpPr>
        <p:spPr>
          <a:xfrm>
            <a:off x="548640" y="3127248"/>
            <a:ext cx="2148840" cy="731520"/>
          </a:xfrm>
          <a:prstGeom prst="rect">
            <a:avLst/>
          </a:prstGeom>
          <a:noFill/>
          <a:ln/>
        </p:spPr>
        <p:txBody>
          <a:bodyPr wrap="square" lIns="0" tIns="0" rIns="0" bIns="0" rtlCol="0" anchor="ctr"/>
          <a:lstStyle/>
          <a:p>
            <a:pPr algn="ctr" indent="0" marL="0">
              <a:buNone/>
            </a:pPr>
            <a:r>
              <a:rPr lang="en-US" sz="3400" b="1" dirty="0">
                <a:solidFill>
                  <a:schemeClr val="accent1"/>
                </a:solidFill>
                <a:latin typeface="Arial" pitchFamily="34" charset="0"/>
                <a:ea typeface="Arial" pitchFamily="34" charset="-122"/>
                <a:cs typeface="Arial" pitchFamily="34" charset="-120"/>
              </a:rPr>
              <a:t>14 / 14</a:t>
            </a:r>
            <a:endParaRPr lang="en-US" sz="3400" dirty="0"/>
          </a:p>
        </p:txBody>
      </p:sp>
      <p:sp>
        <p:nvSpPr>
          <p:cNvPr id="20" name="Text 14"/>
          <p:cNvSpPr txBox="1"/>
          <p:nvPr/>
        </p:nvSpPr>
        <p:spPr>
          <a:xfrm>
            <a:off x="548640" y="3858768"/>
            <a:ext cx="2148840" cy="411480"/>
          </a:xfrm>
          <a:prstGeom prst="rect">
            <a:avLst/>
          </a:prstGeom>
          <a:noFill/>
          <a:ln/>
        </p:spPr>
        <p:txBody>
          <a:bodyPr wrap="square" lIns="0" tIns="0" rIns="0" bIns="0" rtlCol="0" anchor="t"/>
          <a:lstStyle/>
          <a:p>
            <a:pPr algn="ctr" indent="0" marL="0">
              <a:buNone/>
            </a:pPr>
            <a:r>
              <a:rPr lang="en-US" sz="1300" dirty="0">
                <a:solidFill>
                  <a:schemeClr val="tx2"/>
                </a:solidFill>
              </a:rPr>
              <a:t>Prometheus targets UP</a:t>
            </a:r>
            <a:endParaRPr lang="en-US" sz="1300" dirty="0"/>
          </a:p>
        </p:txBody>
      </p:sp>
      <p:sp>
        <p:nvSpPr>
          <p:cNvPr id="21" name="Shape 15"/>
          <p:cNvSpPr/>
          <p:nvPr/>
        </p:nvSpPr>
        <p:spPr>
          <a:xfrm>
            <a:off x="2880360" y="3017520"/>
            <a:ext cx="2148840" cy="1417320"/>
          </a:xfrm>
          <a:prstGeom prst="roundRect">
            <a:avLst>
              <a:gd name="adj" fmla="val 5161"/>
            </a:avLst>
          </a:prstGeom>
          <a:solidFill>
            <a:schemeClr val="bg2"/>
          </a:solidFill>
          <a:ln/>
        </p:spPr>
      </p:sp>
      <p:sp>
        <p:nvSpPr>
          <p:cNvPr id="22" name="Text 16"/>
          <p:cNvSpPr txBox="1"/>
          <p:nvPr/>
        </p:nvSpPr>
        <p:spPr>
          <a:xfrm>
            <a:off x="2880360" y="3127248"/>
            <a:ext cx="2148840" cy="731520"/>
          </a:xfrm>
          <a:prstGeom prst="rect">
            <a:avLst/>
          </a:prstGeom>
          <a:noFill/>
          <a:ln/>
        </p:spPr>
        <p:txBody>
          <a:bodyPr wrap="square" lIns="0" tIns="0" rIns="0" bIns="0" rtlCol="0" anchor="ctr"/>
          <a:lstStyle/>
          <a:p>
            <a:pPr algn="ctr" indent="0" marL="0">
              <a:buNone/>
            </a:pPr>
            <a:r>
              <a:rPr lang="en-US" sz="3400" b="1" dirty="0">
                <a:solidFill>
                  <a:schemeClr val="accent1"/>
                </a:solidFill>
                <a:latin typeface="Arial" pitchFamily="34" charset="0"/>
                <a:ea typeface="Arial" pitchFamily="34" charset="-122"/>
                <a:cs typeface="Arial" pitchFamily="34" charset="-120"/>
              </a:rPr>
              <a:t>19</a:t>
            </a:r>
            <a:endParaRPr lang="en-US" sz="3400" dirty="0"/>
          </a:p>
        </p:txBody>
      </p:sp>
      <p:sp>
        <p:nvSpPr>
          <p:cNvPr id="23" name="Text 17"/>
          <p:cNvSpPr txBox="1"/>
          <p:nvPr/>
        </p:nvSpPr>
        <p:spPr>
          <a:xfrm>
            <a:off x="2880360" y="3858768"/>
            <a:ext cx="2148840" cy="411480"/>
          </a:xfrm>
          <a:prstGeom prst="rect">
            <a:avLst/>
          </a:prstGeom>
          <a:noFill/>
          <a:ln/>
        </p:spPr>
        <p:txBody>
          <a:bodyPr wrap="square" lIns="0" tIns="0" rIns="0" bIns="0" rtlCol="0" anchor="t"/>
          <a:lstStyle/>
          <a:p>
            <a:pPr algn="ctr" indent="0" marL="0">
              <a:buNone/>
            </a:pPr>
            <a:r>
              <a:rPr lang="en-US" sz="1300" dirty="0">
                <a:solidFill>
                  <a:schemeClr val="tx2"/>
                </a:solidFill>
              </a:rPr>
              <a:t>Grafana panels</a:t>
            </a:r>
            <a:endParaRPr lang="en-US" sz="1300" dirty="0"/>
          </a:p>
        </p:txBody>
      </p:sp>
      <p:sp>
        <p:nvSpPr>
          <p:cNvPr id="24" name="Shape 18"/>
          <p:cNvSpPr/>
          <p:nvPr/>
        </p:nvSpPr>
        <p:spPr>
          <a:xfrm>
            <a:off x="5212080" y="3017520"/>
            <a:ext cx="2148840" cy="1417320"/>
          </a:xfrm>
          <a:prstGeom prst="roundRect">
            <a:avLst>
              <a:gd name="adj" fmla="val 5161"/>
            </a:avLst>
          </a:prstGeom>
          <a:solidFill>
            <a:schemeClr val="bg2"/>
          </a:solidFill>
          <a:ln/>
        </p:spPr>
      </p:sp>
      <p:sp>
        <p:nvSpPr>
          <p:cNvPr id="25" name="Text 19"/>
          <p:cNvSpPr txBox="1"/>
          <p:nvPr/>
        </p:nvSpPr>
        <p:spPr>
          <a:xfrm>
            <a:off x="5212080" y="3127248"/>
            <a:ext cx="2148840" cy="731520"/>
          </a:xfrm>
          <a:prstGeom prst="rect">
            <a:avLst/>
          </a:prstGeom>
          <a:noFill/>
          <a:ln/>
        </p:spPr>
        <p:txBody>
          <a:bodyPr wrap="square" lIns="0" tIns="0" rIns="0" bIns="0" rtlCol="0" anchor="ctr"/>
          <a:lstStyle/>
          <a:p>
            <a:pPr algn="ctr" indent="0" marL="0">
              <a:buNone/>
            </a:pPr>
            <a:r>
              <a:rPr lang="en-US" sz="3400" b="1" dirty="0">
                <a:solidFill>
                  <a:schemeClr val="accent1"/>
                </a:solidFill>
                <a:latin typeface="Arial" pitchFamily="34" charset="0"/>
                <a:ea typeface="Arial" pitchFamily="34" charset="-122"/>
                <a:cs typeface="Arial" pitchFamily="34" charset="-120"/>
              </a:rPr>
              <a:t>3</a:t>
            </a:r>
            <a:endParaRPr lang="en-US" sz="3400" dirty="0"/>
          </a:p>
        </p:txBody>
      </p:sp>
      <p:sp>
        <p:nvSpPr>
          <p:cNvPr id="26" name="Text 20"/>
          <p:cNvSpPr txBox="1"/>
          <p:nvPr/>
        </p:nvSpPr>
        <p:spPr>
          <a:xfrm>
            <a:off x="5212080" y="3858768"/>
            <a:ext cx="2148840" cy="411480"/>
          </a:xfrm>
          <a:prstGeom prst="rect">
            <a:avLst/>
          </a:prstGeom>
          <a:noFill/>
          <a:ln/>
        </p:spPr>
        <p:txBody>
          <a:bodyPr wrap="square" lIns="0" tIns="0" rIns="0" bIns="0" rtlCol="0" anchor="t"/>
          <a:lstStyle/>
          <a:p>
            <a:pPr algn="ctr" indent="0" marL="0">
              <a:buNone/>
            </a:pPr>
            <a:r>
              <a:rPr lang="en-US" sz="1300" dirty="0">
                <a:solidFill>
                  <a:schemeClr val="tx2"/>
                </a:solidFill>
              </a:rPr>
              <a:t>alert rules</a:t>
            </a:r>
            <a:endParaRPr lang="en-US" sz="1300" dirty="0"/>
          </a:p>
        </p:txBody>
      </p:sp>
      <p:sp>
        <p:nvSpPr>
          <p:cNvPr id="27" name="Text 21"/>
          <p:cNvSpPr txBox="1"/>
          <p:nvPr/>
        </p:nvSpPr>
        <p:spPr>
          <a:xfrm>
            <a:off x="548640" y="4663440"/>
            <a:ext cx="6766560" cy="365760"/>
          </a:xfrm>
          <a:prstGeom prst="rect">
            <a:avLst/>
          </a:prstGeom>
          <a:noFill/>
          <a:ln/>
        </p:spPr>
        <p:txBody>
          <a:bodyPr wrap="square" lIns="0" tIns="0" rIns="0" bIns="0" rtlCol="0" anchor="t"/>
          <a:lstStyle/>
          <a:p>
            <a:pPr indent="0" marL="0">
              <a:buNone/>
            </a:pPr>
            <a:r>
              <a:rPr lang="en-US" sz="1200" i="1" dirty="0">
                <a:solidFill>
                  <a:schemeClr val="accent4"/>
                </a:solidFill>
              </a:rPr>
              <a:t>Verified on a local kind cluster with the same charts and values as EKS.</a:t>
            </a:r>
            <a:endParaRPr lang="en-US" sz="1200" dirty="0"/>
          </a:p>
        </p:txBody>
      </p:sp>
      <p:sp>
        <p:nvSpPr>
          <p:cNvPr id="28" name="Text 22"/>
          <p:cNvSpPr txBox="1"/>
          <p:nvPr/>
        </p:nvSpPr>
        <p:spPr>
          <a:xfrm>
            <a:off x="7680960" y="1371600"/>
            <a:ext cx="4023360" cy="365760"/>
          </a:xfrm>
          <a:prstGeom prst="rect">
            <a:avLst/>
          </a:prstGeom>
          <a:noFill/>
          <a:ln/>
        </p:spPr>
        <p:txBody>
          <a:bodyPr wrap="square" lIns="0" tIns="0" rIns="0" bIns="0" rtlCol="0" anchor="t"/>
          <a:lstStyle/>
          <a:p>
            <a:pPr indent="0" marL="0">
              <a:buNone/>
            </a:pPr>
            <a:r>
              <a:rPr lang="en-US" sz="2000" b="1" dirty="0">
                <a:solidFill>
                  <a:schemeClr val="tx1"/>
                </a:solidFill>
              </a:rPr>
              <a:t>What the dashboard answers</a:t>
            </a:r>
            <a:endParaRPr lang="en-US" sz="2000" dirty="0"/>
          </a:p>
        </p:txBody>
      </p:sp>
      <p:sp>
        <p:nvSpPr>
          <p:cNvPr id="29" name="Text 23"/>
          <p:cNvSpPr txBox="1"/>
          <p:nvPr/>
        </p:nvSpPr>
        <p:spPr>
          <a:xfrm>
            <a:off x="7680960" y="1828800"/>
            <a:ext cx="39776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Is traffic arriving? Request rate by endpoint</a:t>
            </a:r>
            <a:endParaRPr lang="en-US" sz="1400" dirty="0"/>
          </a:p>
          <a:p>
            <a:pPr marL="342900" indent="-342900">
              <a:spcAft>
                <a:spcPts val="600"/>
              </a:spcAft>
              <a:buSzPct val="100000"/>
              <a:buChar char="•"/>
            </a:pPr>
            <a:r>
              <a:rPr lang="en-US" sz="1400" dirty="0">
                <a:solidFill>
                  <a:schemeClr val="tx2"/>
                </a:solidFill>
              </a:rPr>
              <a:t>Is it failing? 4xx / 5xx rate</a:t>
            </a:r>
            <a:endParaRPr lang="en-US" sz="1400" dirty="0"/>
          </a:p>
          <a:p>
            <a:pPr marL="342900" indent="-342900">
              <a:spcAft>
                <a:spcPts val="600"/>
              </a:spcAft>
              <a:buSzPct val="100000"/>
              <a:buChar char="•"/>
            </a:pPr>
            <a:r>
              <a:rPr lang="en-US" sz="1400" dirty="0">
                <a:solidFill>
                  <a:schemeClr val="tx2"/>
                </a:solidFill>
              </a:rPr>
              <a:t>Is it slow? p50 / p95 latency</a:t>
            </a:r>
            <a:endParaRPr lang="en-US" sz="1400" dirty="0"/>
          </a:p>
          <a:p>
            <a:pPr marL="342900" indent="-342900">
              <a:spcAft>
                <a:spcPts val="600"/>
              </a:spcAft>
              <a:buSzPct val="100000"/>
              <a:buChar char="•"/>
            </a:pPr>
            <a:r>
              <a:rPr lang="en-US" sz="1400" dirty="0">
                <a:solidFill>
                  <a:schemeClr val="tx2"/>
                </a:solidFill>
              </a:rPr>
              <a:t>Is the business moving? Stock movements by reason, units in / out</a:t>
            </a:r>
            <a:endParaRPr lang="en-US" sz="1400" dirty="0"/>
          </a:p>
          <a:p>
            <a:pPr marL="342900" indent="-342900">
              <a:spcAft>
                <a:spcPts val="600"/>
              </a:spcAft>
              <a:buSzPct val="100000"/>
              <a:buChar char="•"/>
            </a:pPr>
            <a:r>
              <a:rPr lang="en-US" sz="1400" dirty="0">
                <a:solidFill>
                  <a:schemeClr val="tx2"/>
                </a:solidFill>
              </a:rPr>
              <a:t>Is it scaling? Pod CPU, HPA current vs desired</a:t>
            </a:r>
            <a:endParaRPr lang="en-US" sz="1400" dirty="0"/>
          </a:p>
        </p:txBody>
      </p:sp>
      <p:sp>
        <p:nvSpPr>
          <p:cNvPr id="30" name="Shape 24"/>
          <p:cNvSpPr/>
          <p:nvPr/>
        </p:nvSpPr>
        <p:spPr>
          <a:xfrm>
            <a:off x="7680960" y="4617720"/>
            <a:ext cx="3977640" cy="1005840"/>
          </a:xfrm>
          <a:prstGeom prst="roundRect">
            <a:avLst>
              <a:gd name="adj" fmla="val 7273"/>
            </a:avLst>
          </a:prstGeom>
          <a:solidFill>
            <a:schemeClr val="bg2"/>
          </a:solidFill>
          <a:ln/>
        </p:spPr>
      </p:sp>
      <p:sp>
        <p:nvSpPr>
          <p:cNvPr id="31" name="Text 25"/>
          <p:cNvSpPr txBox="1"/>
          <p:nvPr/>
        </p:nvSpPr>
        <p:spPr>
          <a:xfrm>
            <a:off x="7863840" y="4663440"/>
            <a:ext cx="3657600" cy="914400"/>
          </a:xfrm>
          <a:prstGeom prst="rect">
            <a:avLst/>
          </a:prstGeom>
          <a:noFill/>
          <a:ln/>
        </p:spPr>
        <p:txBody>
          <a:bodyPr wrap="square" lIns="0" tIns="0" rIns="0" bIns="0" rtlCol="0" anchor="ctr"/>
          <a:lstStyle/>
          <a:p>
            <a:pPr indent="0" marL="0">
              <a:buNone/>
            </a:pPr>
            <a:r>
              <a:rPr lang="en-US" sz="1300" b="1" dirty="0">
                <a:solidFill>
                  <a:schemeClr val="tx1"/>
                </a:solidFill>
              </a:rPr>
              <a:t>Alerts: </a:t>
            </a:r>
            <a:pPr indent="0" marL="0">
              <a:buNone/>
            </a:pPr>
            <a:r>
              <a:rPr lang="en-US" sz="1300" dirty="0">
                <a:solidFill>
                  <a:schemeClr val="tx2"/>
                </a:solidFill>
              </a:rPr>
              <a:t>BackendDown · HighErrorRate &gt; 5% · SlowRequests p95 &gt; 500 ms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Key learnings</a:t>
            </a:r>
            <a:endParaRPr lang="en-US" sz="3200" dirty="0"/>
          </a:p>
        </p:txBody>
      </p:sp>
      <p:sp>
        <p:nvSpPr>
          <p:cNvPr id="3" name="Shape 1"/>
          <p:cNvSpPr/>
          <p:nvPr/>
        </p:nvSpPr>
        <p:spPr>
          <a:xfrm>
            <a:off x="548640" y="1371600"/>
            <a:ext cx="3520440" cy="2011680"/>
          </a:xfrm>
          <a:prstGeom prst="roundRect">
            <a:avLst>
              <a:gd name="adj" fmla="val 3636"/>
            </a:avLst>
          </a:prstGeom>
          <a:solidFill>
            <a:schemeClr val="tx2"/>
          </a:solidFill>
          <a:ln/>
        </p:spPr>
      </p:sp>
      <p:sp>
        <p:nvSpPr>
          <p:cNvPr id="4" name="Shape 2"/>
          <p:cNvSpPr/>
          <p:nvPr/>
        </p:nvSpPr>
        <p:spPr>
          <a:xfrm>
            <a:off x="777240" y="1600200"/>
            <a:ext cx="548640" cy="5486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897941" y="1720901"/>
            <a:ext cx="307238" cy="307238"/>
          </a:xfrm>
          <a:prstGeom prst="rect">
            <a:avLst/>
          </a:prstGeom>
        </p:spPr>
      </p:pic>
      <p:sp>
        <p:nvSpPr>
          <p:cNvPr id="6" name="Text 3"/>
          <p:cNvSpPr txBox="1"/>
          <p:nvPr/>
        </p:nvSpPr>
        <p:spPr>
          <a:xfrm>
            <a:off x="1463040" y="1645920"/>
            <a:ext cx="2468880" cy="502920"/>
          </a:xfrm>
          <a:prstGeom prst="rect">
            <a:avLst/>
          </a:prstGeom>
          <a:noFill/>
          <a:ln/>
        </p:spPr>
        <p:txBody>
          <a:bodyPr wrap="square" lIns="0" tIns="0" rIns="0" bIns="0" rtlCol="0" anchor="ctr"/>
          <a:lstStyle/>
          <a:p>
            <a:pPr indent="0" marL="0">
              <a:buNone/>
            </a:pPr>
            <a:r>
              <a:rPr lang="en-US" sz="1600" b="1" dirty="0">
                <a:solidFill>
                  <a:schemeClr val="bg1"/>
                </a:solidFill>
              </a:rPr>
              <a:t>Gates before artifacts</a:t>
            </a:r>
            <a:endParaRPr lang="en-US" sz="1600" dirty="0"/>
          </a:p>
        </p:txBody>
      </p:sp>
      <p:sp>
        <p:nvSpPr>
          <p:cNvPr id="7" name="Text 4"/>
          <p:cNvSpPr txBox="1"/>
          <p:nvPr/>
        </p:nvSpPr>
        <p:spPr>
          <a:xfrm>
            <a:off x="777240" y="2286000"/>
            <a:ext cx="3108960" cy="960120"/>
          </a:xfrm>
          <a:prstGeom prst="rect">
            <a:avLst/>
          </a:prstGeom>
          <a:noFill/>
          <a:ln/>
        </p:spPr>
        <p:txBody>
          <a:bodyPr wrap="square" lIns="0" tIns="0" rIns="0" bIns="0" rtlCol="0" anchor="t"/>
          <a:lstStyle/>
          <a:p>
            <a:pPr indent="0" marL="0">
              <a:buNone/>
            </a:pPr>
            <a:r>
              <a:rPr lang="en-US" sz="1400" dirty="0">
                <a:solidFill>
                  <a:schemeClr val="bg2"/>
                </a:solidFill>
              </a:rPr>
              <a:t>Tests and Trivy run before the push, so a bad image never reaches the registry.</a:t>
            </a:r>
            <a:endParaRPr lang="en-US" sz="1400" dirty="0"/>
          </a:p>
        </p:txBody>
      </p:sp>
      <p:sp>
        <p:nvSpPr>
          <p:cNvPr id="8" name="Shape 5"/>
          <p:cNvSpPr/>
          <p:nvPr/>
        </p:nvSpPr>
        <p:spPr>
          <a:xfrm>
            <a:off x="4297680" y="1371600"/>
            <a:ext cx="3520440" cy="2011680"/>
          </a:xfrm>
          <a:prstGeom prst="roundRect">
            <a:avLst>
              <a:gd name="adj" fmla="val 3636"/>
            </a:avLst>
          </a:prstGeom>
          <a:solidFill>
            <a:schemeClr val="tx2"/>
          </a:solidFill>
          <a:ln/>
        </p:spPr>
      </p:sp>
      <p:sp>
        <p:nvSpPr>
          <p:cNvPr id="9" name="Shape 6"/>
          <p:cNvSpPr/>
          <p:nvPr/>
        </p:nvSpPr>
        <p:spPr>
          <a:xfrm>
            <a:off x="4526280" y="1600200"/>
            <a:ext cx="548640" cy="54864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646981" y="1720901"/>
            <a:ext cx="307238" cy="307238"/>
          </a:xfrm>
          <a:prstGeom prst="rect">
            <a:avLst/>
          </a:prstGeom>
        </p:spPr>
      </p:pic>
      <p:sp>
        <p:nvSpPr>
          <p:cNvPr id="11" name="Text 7"/>
          <p:cNvSpPr txBox="1"/>
          <p:nvPr/>
        </p:nvSpPr>
        <p:spPr>
          <a:xfrm>
            <a:off x="5212080" y="1645920"/>
            <a:ext cx="2468880" cy="502920"/>
          </a:xfrm>
          <a:prstGeom prst="rect">
            <a:avLst/>
          </a:prstGeom>
          <a:noFill/>
          <a:ln/>
        </p:spPr>
        <p:txBody>
          <a:bodyPr wrap="square" lIns="0" tIns="0" rIns="0" bIns="0" rtlCol="0" anchor="ctr"/>
          <a:lstStyle/>
          <a:p>
            <a:pPr indent="0" marL="0">
              <a:buNone/>
            </a:pPr>
            <a:r>
              <a:rPr lang="en-US" sz="1600" b="1" dirty="0">
                <a:solidFill>
                  <a:schemeClr val="bg1"/>
                </a:solidFill>
              </a:rPr>
              <a:t>SHA tags + GitOps</a:t>
            </a:r>
            <a:endParaRPr lang="en-US" sz="1600" dirty="0"/>
          </a:p>
        </p:txBody>
      </p:sp>
      <p:sp>
        <p:nvSpPr>
          <p:cNvPr id="12" name="Text 8"/>
          <p:cNvSpPr txBox="1"/>
          <p:nvPr/>
        </p:nvSpPr>
        <p:spPr>
          <a:xfrm>
            <a:off x="4526280" y="2286000"/>
            <a:ext cx="3108960" cy="960120"/>
          </a:xfrm>
          <a:prstGeom prst="rect">
            <a:avLst/>
          </a:prstGeom>
          <a:noFill/>
          <a:ln/>
        </p:spPr>
        <p:txBody>
          <a:bodyPr wrap="square" lIns="0" tIns="0" rIns="0" bIns="0" rtlCol="0" anchor="t"/>
          <a:lstStyle/>
          <a:p>
            <a:pPr indent="0" marL="0">
              <a:buNone/>
            </a:pPr>
            <a:r>
              <a:rPr lang="en-US" sz="1400" dirty="0">
                <a:solidFill>
                  <a:schemeClr val="bg2"/>
                </a:solidFill>
              </a:rPr>
              <a:t>Every pod traces to a commit; rollback is a git revert.</a:t>
            </a:r>
            <a:endParaRPr lang="en-US" sz="1400" dirty="0"/>
          </a:p>
        </p:txBody>
      </p:sp>
      <p:sp>
        <p:nvSpPr>
          <p:cNvPr id="13" name="Shape 9"/>
          <p:cNvSpPr/>
          <p:nvPr/>
        </p:nvSpPr>
        <p:spPr>
          <a:xfrm>
            <a:off x="8046720" y="1371600"/>
            <a:ext cx="3520440" cy="2011680"/>
          </a:xfrm>
          <a:prstGeom prst="roundRect">
            <a:avLst>
              <a:gd name="adj" fmla="val 3636"/>
            </a:avLst>
          </a:prstGeom>
          <a:solidFill>
            <a:schemeClr val="tx2"/>
          </a:solidFill>
          <a:ln/>
        </p:spPr>
      </p:sp>
      <p:sp>
        <p:nvSpPr>
          <p:cNvPr id="14" name="Shape 10"/>
          <p:cNvSpPr/>
          <p:nvPr/>
        </p:nvSpPr>
        <p:spPr>
          <a:xfrm>
            <a:off x="8275320" y="1600200"/>
            <a:ext cx="548640" cy="54864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8396021" y="1720901"/>
            <a:ext cx="307238" cy="307238"/>
          </a:xfrm>
          <a:prstGeom prst="rect">
            <a:avLst/>
          </a:prstGeom>
        </p:spPr>
      </p:pic>
      <p:sp>
        <p:nvSpPr>
          <p:cNvPr id="16" name="Text 11"/>
          <p:cNvSpPr txBox="1"/>
          <p:nvPr/>
        </p:nvSpPr>
        <p:spPr>
          <a:xfrm>
            <a:off x="8961120" y="1645920"/>
            <a:ext cx="2468880" cy="502920"/>
          </a:xfrm>
          <a:prstGeom prst="rect">
            <a:avLst/>
          </a:prstGeom>
          <a:noFill/>
          <a:ln/>
        </p:spPr>
        <p:txBody>
          <a:bodyPr wrap="square" lIns="0" tIns="0" rIns="0" bIns="0" rtlCol="0" anchor="ctr"/>
          <a:lstStyle/>
          <a:p>
            <a:pPr indent="0" marL="0">
              <a:buNone/>
            </a:pPr>
            <a:r>
              <a:rPr lang="en-US" sz="1600" b="1" dirty="0">
                <a:solidFill>
                  <a:schemeClr val="bg1"/>
                </a:solidFill>
              </a:rPr>
              <a:t>Liveness ≠ readiness</a:t>
            </a:r>
            <a:endParaRPr lang="en-US" sz="1600" dirty="0"/>
          </a:p>
        </p:txBody>
      </p:sp>
      <p:sp>
        <p:nvSpPr>
          <p:cNvPr id="17" name="Text 12"/>
          <p:cNvSpPr txBox="1"/>
          <p:nvPr/>
        </p:nvSpPr>
        <p:spPr>
          <a:xfrm>
            <a:off x="8275320" y="2286000"/>
            <a:ext cx="3108960" cy="960120"/>
          </a:xfrm>
          <a:prstGeom prst="rect">
            <a:avLst/>
          </a:prstGeom>
          <a:noFill/>
          <a:ln/>
        </p:spPr>
        <p:txBody>
          <a:bodyPr wrap="square" lIns="0" tIns="0" rIns="0" bIns="0" rtlCol="0" anchor="t"/>
          <a:lstStyle/>
          <a:p>
            <a:pPr indent="0" marL="0">
              <a:buNone/>
            </a:pPr>
            <a:r>
              <a:rPr lang="en-US" sz="1400" dirty="0">
                <a:solidFill>
                  <a:schemeClr val="bg2"/>
                </a:solidFill>
              </a:rPr>
              <a:t>/health keeps busy pods alive; /ready keeps DB-less pods out of the load balancer.</a:t>
            </a:r>
            <a:endParaRPr lang="en-US" sz="1400" dirty="0"/>
          </a:p>
        </p:txBody>
      </p:sp>
      <p:sp>
        <p:nvSpPr>
          <p:cNvPr id="18" name="Shape 13"/>
          <p:cNvSpPr/>
          <p:nvPr/>
        </p:nvSpPr>
        <p:spPr>
          <a:xfrm>
            <a:off x="548640" y="3611880"/>
            <a:ext cx="3520440" cy="2011680"/>
          </a:xfrm>
          <a:prstGeom prst="roundRect">
            <a:avLst>
              <a:gd name="adj" fmla="val 3636"/>
            </a:avLst>
          </a:prstGeom>
          <a:solidFill>
            <a:schemeClr val="tx2"/>
          </a:solidFill>
          <a:ln/>
        </p:spPr>
      </p:sp>
      <p:sp>
        <p:nvSpPr>
          <p:cNvPr id="19" name="Shape 14"/>
          <p:cNvSpPr/>
          <p:nvPr/>
        </p:nvSpPr>
        <p:spPr>
          <a:xfrm>
            <a:off x="777240" y="3840480"/>
            <a:ext cx="548640" cy="54864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897941" y="3961181"/>
            <a:ext cx="307238" cy="307238"/>
          </a:xfrm>
          <a:prstGeom prst="rect">
            <a:avLst/>
          </a:prstGeom>
        </p:spPr>
      </p:pic>
      <p:sp>
        <p:nvSpPr>
          <p:cNvPr id="21" name="Text 15"/>
          <p:cNvSpPr txBox="1"/>
          <p:nvPr/>
        </p:nvSpPr>
        <p:spPr>
          <a:xfrm>
            <a:off x="1463040" y="3886200"/>
            <a:ext cx="2468880" cy="502920"/>
          </a:xfrm>
          <a:prstGeom prst="rect">
            <a:avLst/>
          </a:prstGeom>
          <a:noFill/>
          <a:ln/>
        </p:spPr>
        <p:txBody>
          <a:bodyPr wrap="square" lIns="0" tIns="0" rIns="0" bIns="0" rtlCol="0" anchor="ctr"/>
          <a:lstStyle/>
          <a:p>
            <a:pPr indent="0" marL="0">
              <a:buNone/>
            </a:pPr>
            <a:r>
              <a:rPr lang="en-US" sz="1600" b="1" dirty="0">
                <a:solidFill>
                  <a:schemeClr val="bg1"/>
                </a:solidFill>
              </a:rPr>
              <a:t>Least privilege</a:t>
            </a:r>
            <a:endParaRPr lang="en-US" sz="1600" dirty="0"/>
          </a:p>
        </p:txBody>
      </p:sp>
      <p:sp>
        <p:nvSpPr>
          <p:cNvPr id="22" name="Text 16"/>
          <p:cNvSpPr txBox="1"/>
          <p:nvPr/>
        </p:nvSpPr>
        <p:spPr>
          <a:xfrm>
            <a:off x="777240" y="4526280"/>
            <a:ext cx="3108960" cy="960120"/>
          </a:xfrm>
          <a:prstGeom prst="rect">
            <a:avLst/>
          </a:prstGeom>
          <a:noFill/>
          <a:ln/>
        </p:spPr>
        <p:txBody>
          <a:bodyPr wrap="square" lIns="0" tIns="0" rIns="0" bIns="0" rtlCol="0" anchor="t"/>
          <a:lstStyle/>
          <a:p>
            <a:pPr indent="0" marL="0">
              <a:buNone/>
            </a:pPr>
            <a:r>
              <a:rPr lang="en-US" sz="1400" dirty="0">
                <a:solidFill>
                  <a:schemeClr val="bg2"/>
                </a:solidFill>
              </a:rPr>
              <a:t>Non-root, read-only FS, restricted PSS, scoped tokens, IRSA, no keys in Git.</a:t>
            </a:r>
            <a:endParaRPr lang="en-US" sz="1400" dirty="0"/>
          </a:p>
        </p:txBody>
      </p:sp>
      <p:sp>
        <p:nvSpPr>
          <p:cNvPr id="23" name="Shape 17"/>
          <p:cNvSpPr/>
          <p:nvPr/>
        </p:nvSpPr>
        <p:spPr>
          <a:xfrm>
            <a:off x="4297680" y="3611880"/>
            <a:ext cx="3520440" cy="2011680"/>
          </a:xfrm>
          <a:prstGeom prst="roundRect">
            <a:avLst>
              <a:gd name="adj" fmla="val 3636"/>
            </a:avLst>
          </a:prstGeom>
          <a:solidFill>
            <a:schemeClr val="tx2"/>
          </a:solidFill>
          <a:ln/>
        </p:spPr>
      </p:sp>
      <p:sp>
        <p:nvSpPr>
          <p:cNvPr id="24" name="Shape 18"/>
          <p:cNvSpPr/>
          <p:nvPr/>
        </p:nvSpPr>
        <p:spPr>
          <a:xfrm>
            <a:off x="4526280" y="3840480"/>
            <a:ext cx="548640" cy="54864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4646981" y="3961181"/>
            <a:ext cx="307238" cy="307238"/>
          </a:xfrm>
          <a:prstGeom prst="rect">
            <a:avLst/>
          </a:prstGeom>
        </p:spPr>
      </p:pic>
      <p:sp>
        <p:nvSpPr>
          <p:cNvPr id="26" name="Text 19"/>
          <p:cNvSpPr txBox="1"/>
          <p:nvPr/>
        </p:nvSpPr>
        <p:spPr>
          <a:xfrm>
            <a:off x="5212080" y="3886200"/>
            <a:ext cx="2468880" cy="502920"/>
          </a:xfrm>
          <a:prstGeom prst="rect">
            <a:avLst/>
          </a:prstGeom>
          <a:noFill/>
          <a:ln/>
        </p:spPr>
        <p:txBody>
          <a:bodyPr wrap="square" lIns="0" tIns="0" rIns="0" bIns="0" rtlCol="0" anchor="ctr"/>
          <a:lstStyle/>
          <a:p>
            <a:pPr indent="0" marL="0">
              <a:buNone/>
            </a:pPr>
            <a:r>
              <a:rPr lang="en-US" sz="1600" b="1" dirty="0">
                <a:solidFill>
                  <a:schemeClr val="bg1"/>
                </a:solidFill>
              </a:rPr>
              <a:t>K8s creates cloud resources</a:t>
            </a:r>
            <a:endParaRPr lang="en-US" sz="1600" dirty="0"/>
          </a:p>
        </p:txBody>
      </p:sp>
      <p:sp>
        <p:nvSpPr>
          <p:cNvPr id="27" name="Text 20"/>
          <p:cNvSpPr txBox="1"/>
          <p:nvPr/>
        </p:nvSpPr>
        <p:spPr>
          <a:xfrm>
            <a:off x="4526280" y="4526280"/>
            <a:ext cx="3108960" cy="960120"/>
          </a:xfrm>
          <a:prstGeom prst="rect">
            <a:avLst/>
          </a:prstGeom>
          <a:noFill/>
          <a:ln/>
        </p:spPr>
        <p:txBody>
          <a:bodyPr wrap="square" lIns="0" tIns="0" rIns="0" bIns="0" rtlCol="0" anchor="t"/>
          <a:lstStyle/>
          <a:p>
            <a:pPr indent="0" marL="0">
              <a:buNone/>
            </a:pPr>
            <a:r>
              <a:rPr lang="en-US" sz="1400" dirty="0">
                <a:solidFill>
                  <a:schemeClr val="bg2"/>
                </a:solidFill>
              </a:rPr>
              <a:t>NLBs and EBS volumes live outside Terraform state, so tear-down order matters.</a:t>
            </a:r>
            <a:endParaRPr lang="en-US" sz="1400" dirty="0"/>
          </a:p>
        </p:txBody>
      </p:sp>
      <p:sp>
        <p:nvSpPr>
          <p:cNvPr id="28" name="Shape 21"/>
          <p:cNvSpPr/>
          <p:nvPr/>
        </p:nvSpPr>
        <p:spPr>
          <a:xfrm>
            <a:off x="8046720" y="3611880"/>
            <a:ext cx="3520440" cy="2011680"/>
          </a:xfrm>
          <a:prstGeom prst="roundRect">
            <a:avLst>
              <a:gd name="adj" fmla="val 3636"/>
            </a:avLst>
          </a:prstGeom>
          <a:solidFill>
            <a:schemeClr val="tx2"/>
          </a:solidFill>
          <a:ln/>
        </p:spPr>
      </p:sp>
      <p:sp>
        <p:nvSpPr>
          <p:cNvPr id="29" name="Shape 22"/>
          <p:cNvSpPr/>
          <p:nvPr/>
        </p:nvSpPr>
        <p:spPr>
          <a:xfrm>
            <a:off x="8275320" y="3840480"/>
            <a:ext cx="548640" cy="548640"/>
          </a:xfrm>
          <a:prstGeom prst="ellipse">
            <a:avLst/>
          </a:prstGeom>
          <a:solidFill>
            <a:schemeClr val="accent1"/>
          </a:solidFill>
          <a:ln/>
        </p:spPr>
      </p:sp>
      <p:pic>
        <p:nvPicPr>
          <p:cNvPr id="30" name="Image 5" descr="preencoded.png">    </p:cNvPr>
          <p:cNvPicPr>
            <a:picLocks noChangeAspect="1"/>
          </p:cNvPicPr>
          <p:nvPr/>
        </p:nvPicPr>
        <p:blipFill>
          <a:blip r:embed="rId6"/>
          <a:stretch>
            <a:fillRect/>
          </a:stretch>
        </p:blipFill>
        <p:spPr>
          <a:xfrm>
            <a:off x="8396021" y="3961181"/>
            <a:ext cx="307238" cy="307238"/>
          </a:xfrm>
          <a:prstGeom prst="rect">
            <a:avLst/>
          </a:prstGeom>
        </p:spPr>
      </p:pic>
      <p:sp>
        <p:nvSpPr>
          <p:cNvPr id="31" name="Text 23"/>
          <p:cNvSpPr txBox="1"/>
          <p:nvPr/>
        </p:nvSpPr>
        <p:spPr>
          <a:xfrm>
            <a:off x="8961120" y="3886200"/>
            <a:ext cx="2468880" cy="502920"/>
          </a:xfrm>
          <a:prstGeom prst="rect">
            <a:avLst/>
          </a:prstGeom>
          <a:noFill/>
          <a:ln/>
        </p:spPr>
        <p:txBody>
          <a:bodyPr wrap="square" lIns="0" tIns="0" rIns="0" bIns="0" rtlCol="0" anchor="ctr"/>
          <a:lstStyle/>
          <a:p>
            <a:pPr indent="0" marL="0">
              <a:buNone/>
            </a:pPr>
            <a:r>
              <a:rPr lang="en-US" sz="1600" b="1" dirty="0">
                <a:solidFill>
                  <a:schemeClr val="bg1"/>
                </a:solidFill>
              </a:rPr>
              <a:t>Measure the business too</a:t>
            </a:r>
            <a:endParaRPr lang="en-US" sz="1600" dirty="0"/>
          </a:p>
        </p:txBody>
      </p:sp>
      <p:sp>
        <p:nvSpPr>
          <p:cNvPr id="32" name="Text 24"/>
          <p:cNvSpPr txBox="1"/>
          <p:nvPr/>
        </p:nvSpPr>
        <p:spPr>
          <a:xfrm>
            <a:off x="8275320" y="4526280"/>
            <a:ext cx="3108960" cy="960120"/>
          </a:xfrm>
          <a:prstGeom prst="rect">
            <a:avLst/>
          </a:prstGeom>
          <a:noFill/>
          <a:ln/>
        </p:spPr>
        <p:txBody>
          <a:bodyPr wrap="square" lIns="0" tIns="0" rIns="0" bIns="0" rtlCol="0" anchor="t"/>
          <a:lstStyle/>
          <a:p>
            <a:pPr indent="0" marL="0">
              <a:buNone/>
            </a:pPr>
            <a:r>
              <a:rPr lang="en-US" sz="1400" dirty="0">
                <a:solidFill>
                  <a:schemeClr val="bg2"/>
                </a:solidFill>
              </a:rPr>
              <a:t>Latency says it's healthy; stock movements say it's being used.</a:t>
            </a:r>
            <a:endParaRPr lang="en-US" sz="1400" dirty="0"/>
          </a:p>
        </p:txBody>
      </p:sp>
      <p:sp>
        <p:nvSpPr>
          <p:cNvPr id="33" name="Text 25"/>
          <p:cNvSpPr txBox="1"/>
          <p:nvPr/>
        </p:nvSpPr>
        <p:spPr>
          <a:xfrm>
            <a:off x="548640" y="5989320"/>
            <a:ext cx="10058400" cy="365760"/>
          </a:xfrm>
          <a:prstGeom prst="rect">
            <a:avLst/>
          </a:prstGeom>
          <a:noFill/>
          <a:ln/>
        </p:spPr>
        <p:txBody>
          <a:bodyPr wrap="square" lIns="0" tIns="0" rIns="0" bIns="0" rtlCol="0" anchor="t"/>
          <a:lstStyle/>
          <a:p>
            <a:pPr indent="0" marL="0">
              <a:buNone/>
            </a:pPr>
            <a:r>
              <a:rPr lang="en-US" sz="1400" b="1" dirty="0">
                <a:solidFill>
                  <a:schemeClr val="accent1"/>
                </a:solidFill>
              </a:rPr>
              <a:t>github.com/SidantxDev/stockpilot-devops-capstone  ·  Thank you</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ockPilot">
  <a:themeElements>
    <a:clrScheme name="StockPilot">
      <a:dk1>
        <a:srgbClr val="0F1B2A"/>
      </a:dk1>
      <a:lt1>
        <a:srgbClr val="FFFFFF"/>
      </a:lt1>
      <a:dk2>
        <a:srgbClr val="334155"/>
      </a:dk2>
      <a:lt2>
        <a:srgbClr val="F1F5F9"/>
      </a:lt2>
      <a:accent1>
        <a:srgbClr val="0D9488"/>
      </a:accent1>
      <a:accent2>
        <a:srgbClr val="F59E0B"/>
      </a:accent2>
      <a:accent3>
        <a:srgbClr val="0F766E"/>
      </a:accent3>
      <a:accent4>
        <a:srgbClr val="64748B"/>
      </a:accent4>
      <a:accent5>
        <a:srgbClr val="DC2626"/>
      </a:accent5>
      <a:accent6>
        <a:srgbClr val="16A34A"/>
      </a:accent6>
      <a:hlink>
        <a:srgbClr val="0D9488"/>
      </a:hlink>
      <a:folHlink>
        <a:srgbClr val="0F766E"/>
      </a:folHlink>
    </a:clrScheme>
    <a:fontScheme name="StockPil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StockPilot - DevSecOps Capstone</dc:title>
  <dc:subject>DevOps Final Capstone presentation</dc:subject>
  <dc:creator>SidantxDev</dc:creator>
  <cp:lastModifiedBy>SidantxDev</cp:lastModifiedBy>
  <cp:revision>1</cp:revision>
  <dcterms:created xsi:type="dcterms:W3CDTF">2026-10-16T15:11:22Z</dcterms:created>
  <dcterms:modified xsi:type="dcterms:W3CDTF">2026-10-16T15:11:22Z</dcterms:modified>
</cp:coreProperties>
</file>